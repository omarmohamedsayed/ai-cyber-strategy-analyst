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CBA45A-2694-4F12-ADFF-B3E7A3BAC418}" v="58" dt="2026-04-13T18:30:10.0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" y="182880"/>
            <a:ext cx="12024360" cy="63093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8016" y="256032"/>
            <a:ext cx="1371600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620" b="0" i="0">
                <a:solidFill>
                  <a:srgbClr val="000000"/>
                </a:solidFill>
                <a:latin typeface="Arial"/>
              </a:rPr>
              <a:t>Classification: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02920"/>
            <a:ext cx="68580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A202C"/>
                </a:solidFill>
                <a:latin typeface="Arial"/>
              </a:rPr>
              <a:t>Enabling Organizational Resilience Through Integrated Strategic Pillars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88920" y="896112"/>
            <a:ext cx="1444752" cy="512064"/>
          </a:xfrm>
          <a:prstGeom prst="roundRect">
            <a:avLst/>
          </a:prstGeom>
          <a:solidFill>
            <a:srgbClr val="525252"/>
          </a:solidFill>
          <a:ln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88920" y="969264"/>
            <a:ext cx="1444752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Technology
Pillars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36592" y="896112"/>
            <a:ext cx="1719072" cy="512064"/>
          </a:xfrm>
          <a:prstGeom prst="roundRect">
            <a:avLst/>
          </a:prstGeom>
          <a:solidFill>
            <a:srgbClr val="525252"/>
          </a:solidFill>
          <a:ln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36592" y="969264"/>
            <a:ext cx="1719072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Cybersecurity
Pillars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01968" y="896112"/>
            <a:ext cx="5230368" cy="512064"/>
          </a:xfrm>
          <a:prstGeom prst="roundRect">
            <a:avLst/>
          </a:prstGeom>
          <a:solidFill>
            <a:srgbClr val="525252"/>
          </a:solidFill>
          <a:ln>
            <a:solidFill>
              <a:srgbClr val="52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01968" y="969264"/>
            <a:ext cx="5230368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Cybersecurity Initiatives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0268" y="1024128"/>
            <a:ext cx="10972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BDBDBD"/>
                </a:solidFill>
                <a:latin typeface="Arial"/>
              </a:rPr>
              <a:t>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1024128"/>
            <a:ext cx="10972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BDBDBD"/>
                </a:solidFill>
                <a:latin typeface="Arial"/>
              </a:rPr>
              <a:t>&gt;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3200400"/>
            <a:ext cx="1664208" cy="1664208"/>
          </a:xfrm>
          <a:prstGeom prst="ellipse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59536" y="3493008"/>
            <a:ext cx="1078992" cy="1078992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756536" y="3685032"/>
            <a:ext cx="832104" cy="69494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3831336"/>
            <a:ext cx="100584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1A202C"/>
                </a:solidFill>
                <a:latin typeface="Arial"/>
              </a:rPr>
              <a:t>Cybersecurity
Strategy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64943" y="3874312"/>
            <a:ext cx="292608" cy="23774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871138" y="4020616"/>
            <a:ext cx="292608" cy="23774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864943" y="4166920"/>
            <a:ext cx="292608" cy="23774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Connector 19"/>
          <p:cNvCxnSpPr/>
          <p:nvPr/>
        </p:nvCxnSpPr>
        <p:spPr>
          <a:xfrm>
            <a:off x="2514600" y="1664208"/>
            <a:ext cx="0" cy="347471"/>
          </a:xfrm>
          <a:prstGeom prst="line">
            <a:avLst/>
          </a:prstGeom>
          <a:ln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514600" y="1664208"/>
            <a:ext cx="274320" cy="0"/>
          </a:xfrm>
          <a:prstGeom prst="line">
            <a:avLst/>
          </a:prstGeom>
          <a:ln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2788920" y="1865376"/>
            <a:ext cx="1444752" cy="475488"/>
          </a:xfrm>
          <a:prstGeom prst="rect">
            <a:avLst/>
          </a:prstGeom>
          <a:solidFill>
            <a:srgbClr val="F4D0D6"/>
          </a:solidFill>
          <a:ln>
            <a:solidFill>
              <a:srgbClr val="F4D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197096" y="1865376"/>
            <a:ext cx="36576" cy="47548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25496" y="1901952"/>
            <a:ext cx="1335024" cy="40233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80" b="1" i="0">
                <a:solidFill>
                  <a:srgbClr val="1A202C"/>
                </a:solidFill>
                <a:latin typeface="Arial"/>
              </a:rPr>
              <a:t>Build a Strong Core Platforms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88920" y="3855000"/>
            <a:ext cx="1444752" cy="475488"/>
          </a:xfrm>
          <a:prstGeom prst="rect">
            <a:avLst/>
          </a:prstGeom>
          <a:solidFill>
            <a:srgbClr val="F4D0D6"/>
          </a:solidFill>
          <a:ln>
            <a:solidFill>
              <a:srgbClr val="F4D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197096" y="3855000"/>
            <a:ext cx="36576" cy="47548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825496" y="3891576"/>
            <a:ext cx="1335024" cy="40233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760" b="1" i="0">
                <a:solidFill>
                  <a:srgbClr val="1A202C"/>
                </a:solidFill>
                <a:latin typeface="Arial"/>
              </a:rPr>
              <a:t>Enable the Business Products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88920" y="5891090"/>
            <a:ext cx="1444752" cy="475488"/>
          </a:xfrm>
          <a:prstGeom prst="rect">
            <a:avLst/>
          </a:prstGeom>
          <a:solidFill>
            <a:srgbClr val="F4D0D6"/>
          </a:solidFill>
          <a:ln>
            <a:solidFill>
              <a:srgbClr val="F4D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197096" y="5891090"/>
            <a:ext cx="36576" cy="47548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825496" y="6014956"/>
            <a:ext cx="1335024" cy="227755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680" b="1" i="0">
                <a:solidFill>
                  <a:srgbClr val="1A202C"/>
                </a:solidFill>
                <a:latin typeface="Arial"/>
              </a:rPr>
              <a:t>Become a Global Benchmark DH 2.X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526280" y="1901951"/>
            <a:ext cx="0" cy="4471417"/>
          </a:xfrm>
          <a:prstGeom prst="line">
            <a:avLst/>
          </a:prstGeom>
          <a:ln>
            <a:solidFill>
              <a:srgbClr val="DCDC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4443984" y="2020824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7C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736592" y="1883663"/>
            <a:ext cx="1719072" cy="438912"/>
          </a:xfrm>
          <a:prstGeom prst="roundRect">
            <a:avLst/>
          </a:prstGeom>
          <a:solidFill>
            <a:srgbClr val="27CB65"/>
          </a:solidFill>
          <a:ln>
            <a:solidFill>
              <a:srgbClr val="27CB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09744" y="1938527"/>
            <a:ext cx="1572768" cy="32918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Arial"/>
              </a:rPr>
              <a:t>Agile Governance and Strategy</a:t>
            </a:r>
          </a:p>
        </p:txBody>
      </p:sp>
      <p:sp>
        <p:nvSpPr>
          <p:cNvPr id="35" name="Oval 34"/>
          <p:cNvSpPr/>
          <p:nvPr/>
        </p:nvSpPr>
        <p:spPr>
          <a:xfrm>
            <a:off x="4443984" y="3483864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F7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4736592" y="3145536"/>
            <a:ext cx="1719072" cy="841248"/>
          </a:xfrm>
          <a:prstGeom prst="roundRect">
            <a:avLst/>
          </a:prstGeom>
          <a:solidFill>
            <a:srgbClr val="6F7B85"/>
          </a:solidFill>
          <a:ln>
            <a:solidFill>
              <a:srgbClr val="6F7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809744" y="3200400"/>
            <a:ext cx="1572768" cy="7315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Arial"/>
              </a:rPr>
              <a:t>Modernize Security Operations and Techn…</a:t>
            </a:r>
          </a:p>
        </p:txBody>
      </p:sp>
      <p:sp>
        <p:nvSpPr>
          <p:cNvPr id="38" name="Oval 37"/>
          <p:cNvSpPr/>
          <p:nvPr/>
        </p:nvSpPr>
        <p:spPr>
          <a:xfrm>
            <a:off x="4443984" y="4946904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4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736592" y="4608576"/>
            <a:ext cx="1719072" cy="841248"/>
          </a:xfrm>
          <a:prstGeom prst="roundRect">
            <a:avLst/>
          </a:prstGeom>
          <a:solidFill>
            <a:srgbClr val="C4F0F6"/>
          </a:solidFill>
          <a:ln>
            <a:solidFill>
              <a:srgbClr val="C4F0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809744" y="4663440"/>
            <a:ext cx="1572768" cy="7315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710" b="1" i="0">
                <a:solidFill>
                  <a:srgbClr val="FFFFFF"/>
                </a:solidFill>
                <a:latin typeface="Arial"/>
              </a:rPr>
              <a:t>Elevate Resilience and Risk Management</a:t>
            </a:r>
          </a:p>
        </p:txBody>
      </p:sp>
      <p:sp>
        <p:nvSpPr>
          <p:cNvPr id="41" name="Oval 40"/>
          <p:cNvSpPr/>
          <p:nvPr/>
        </p:nvSpPr>
        <p:spPr>
          <a:xfrm>
            <a:off x="4443984" y="6089904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4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4736592" y="5952744"/>
            <a:ext cx="1719072" cy="438912"/>
          </a:xfrm>
          <a:prstGeom prst="roundRect">
            <a:avLst/>
          </a:prstGeom>
          <a:solidFill>
            <a:srgbClr val="C4B4A0"/>
          </a:solidFill>
          <a:ln>
            <a:solidFill>
              <a:srgbClr val="C4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809744" y="6007607"/>
            <a:ext cx="1572768" cy="32918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710" b="1" i="0">
                <a:solidFill>
                  <a:srgbClr val="FFFFFF"/>
                </a:solidFill>
                <a:latin typeface="Arial"/>
              </a:rPr>
              <a:t>Nurture People and Partnerships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601968" y="1938527"/>
            <a:ext cx="1719072" cy="329184"/>
          </a:xfrm>
          <a:prstGeom prst="roundRect">
            <a:avLst/>
          </a:prstGeom>
          <a:solidFill>
            <a:srgbClr val="C4F9CF"/>
          </a:solidFill>
          <a:ln>
            <a:solidFill>
              <a:srgbClr val="C4F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638544" y="1965959"/>
            <a:ext cx="1645919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530" b="1" i="0">
                <a:solidFill>
                  <a:srgbClr val="1A202C"/>
                </a:solidFill>
                <a:latin typeface="Arial"/>
              </a:rPr>
              <a:t>A1. Encryption at Rest for HR Data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94192" y="1938527"/>
            <a:ext cx="1719072" cy="329184"/>
          </a:xfrm>
          <a:prstGeom prst="roundRect">
            <a:avLst/>
          </a:prstGeom>
          <a:solidFill>
            <a:srgbClr val="C4F9CF"/>
          </a:solidFill>
          <a:ln>
            <a:solidFill>
              <a:srgbClr val="C4F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430767" y="1965959"/>
            <a:ext cx="1645919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530" b="1" i="0">
                <a:solidFill>
                  <a:srgbClr val="1A202C"/>
                </a:solidFill>
                <a:latin typeface="Arial"/>
              </a:rPr>
              <a:t>A2. Comprehensive Logging and Monitoring Implem…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601968" y="3401568"/>
            <a:ext cx="1719072" cy="329184"/>
          </a:xfrm>
          <a:prstGeom prst="roundRect">
            <a:avLst/>
          </a:prstGeom>
          <a:solidFill>
            <a:srgbClr val="EFEFEF"/>
          </a:solidFill>
          <a:ln>
            <a:solidFill>
              <a:srgbClr val="EF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638544" y="3428999"/>
            <a:ext cx="1645919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530" b="1" i="0">
                <a:solidFill>
                  <a:srgbClr val="1A202C"/>
                </a:solidFill>
                <a:latin typeface="Arial"/>
              </a:rPr>
              <a:t>M1. Multi-Factor Authentication Implementation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394192" y="3401568"/>
            <a:ext cx="1719072" cy="329184"/>
          </a:xfrm>
          <a:prstGeom prst="roundRect">
            <a:avLst/>
          </a:prstGeom>
          <a:solidFill>
            <a:srgbClr val="EFEFEF"/>
          </a:solidFill>
          <a:ln>
            <a:solidFill>
              <a:srgbClr val="EF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430767" y="3428999"/>
            <a:ext cx="1645919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530" b="1" i="0">
                <a:solidFill>
                  <a:srgbClr val="1A202C"/>
                </a:solidFill>
                <a:latin typeface="Arial"/>
              </a:rPr>
              <a:t>M2. Third-Party Risk Assessment Framework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601968" y="4864608"/>
            <a:ext cx="1719072" cy="329184"/>
          </a:xfrm>
          <a:prstGeom prst="roundRect">
            <a:avLst/>
          </a:prstGeom>
          <a:solidFill>
            <a:srgbClr val="E3F7FC"/>
          </a:solidFill>
          <a:ln>
            <a:solidFill>
              <a:srgbClr val="E3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638544" y="4892040"/>
            <a:ext cx="1645919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530" b="1" i="0">
                <a:solidFill>
                  <a:srgbClr val="1A202C"/>
                </a:solidFill>
                <a:latin typeface="Arial"/>
              </a:rPr>
              <a:t>E1. Privileged Access Management Enhancement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394192" y="4864608"/>
            <a:ext cx="1719072" cy="329184"/>
          </a:xfrm>
          <a:prstGeom prst="roundRect">
            <a:avLst/>
          </a:prstGeom>
          <a:solidFill>
            <a:srgbClr val="E3F7FC"/>
          </a:solidFill>
          <a:ln>
            <a:solidFill>
              <a:srgbClr val="E3F7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430767" y="4892040"/>
            <a:ext cx="1645919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530" b="1" i="0">
                <a:solidFill>
                  <a:srgbClr val="1A202C"/>
                </a:solidFill>
                <a:latin typeface="Arial"/>
              </a:rPr>
              <a:t>E2. Disaster Recovery Testing Program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601968" y="6007608"/>
            <a:ext cx="1719072" cy="329184"/>
          </a:xfrm>
          <a:prstGeom prst="roundRect">
            <a:avLst/>
          </a:prstGeom>
          <a:solidFill>
            <a:srgbClr val="EEE9E3"/>
          </a:solidFill>
          <a:ln>
            <a:solidFill>
              <a:srgbClr val="EEE9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638544" y="6035040"/>
            <a:ext cx="1645919" cy="2743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530" b="1" i="0">
                <a:solidFill>
                  <a:srgbClr val="1A202C"/>
                </a:solidFill>
                <a:latin typeface="Arial"/>
              </a:rPr>
              <a:t>N1. Cloud Security Configuration Review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21240" y="6419088"/>
            <a:ext cx="1828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550" b="0" i="0">
                <a:solidFill>
                  <a:srgbClr val="5E5E5E"/>
                </a:solidFill>
                <a:latin typeface="Arial"/>
              </a:rPr>
              <a:t>Copyright © 2026 Accenture.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" y="182880"/>
            <a:ext cx="12024360" cy="63093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274320"/>
            <a:ext cx="2240280" cy="74980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347472"/>
            <a:ext cx="155448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Arial"/>
              </a:rPr>
              <a:t>Security Domain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48640"/>
            <a:ext cx="18288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Third-Party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1060704"/>
            <a:ext cx="2240280" cy="786384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64592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Arial"/>
              </a:rPr>
              <a:t>Initiative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335024"/>
            <a:ext cx="193852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19" b="1" i="0">
                <a:solidFill>
                  <a:srgbClr val="FFFFFF"/>
                </a:solidFill>
                <a:latin typeface="Arial"/>
              </a:rPr>
              <a:t>Privileged Access Management Enhancement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" y="1965960"/>
            <a:ext cx="1088136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9456" y="2020824"/>
            <a:ext cx="91440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5E5E5E"/>
                </a:solidFill>
                <a:latin typeface="Arial"/>
              </a:rPr>
              <a:t>Start 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" y="2139696"/>
            <a:ext cx="96012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Q1 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4732" y="1965960"/>
            <a:ext cx="1088136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39596" y="2020824"/>
            <a:ext cx="91440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5E5E5E"/>
                </a:solidFill>
                <a:latin typeface="Arial"/>
              </a:rPr>
              <a:t>Duration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9596" y="2139696"/>
            <a:ext cx="96012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6 months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4592" y="2450591"/>
            <a:ext cx="1088136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9456" y="2505456"/>
            <a:ext cx="91440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5E5E5E"/>
                </a:solidFill>
                <a:latin typeface="Arial"/>
              </a:rPr>
              <a:t>Budget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" y="2624327"/>
            <a:ext cx="96012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00" b="1" i="0">
                <a:solidFill>
                  <a:srgbClr val="000000"/>
                </a:solidFill>
                <a:latin typeface="Arial"/>
              </a:rPr>
              <a:t>$100,000-
$150,000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84732" y="2450591"/>
            <a:ext cx="1088136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39596" y="2505456"/>
            <a:ext cx="91440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5E5E5E"/>
                </a:solidFill>
                <a:latin typeface="Arial"/>
              </a:rPr>
              <a:t>FTEs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9596" y="2624327"/>
            <a:ext cx="96012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TBD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2971800"/>
            <a:ext cx="192024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1" i="0">
                <a:solidFill>
                  <a:srgbClr val="000000"/>
                </a:solidFill>
                <a:latin typeface="Arial"/>
              </a:rPr>
              <a:t>Strategic Objective Covered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0312" y="3172968"/>
            <a:ext cx="1956816" cy="201168"/>
          </a:xfrm>
          <a:prstGeom prst="rect">
            <a:avLst/>
          </a:prstGeom>
          <a:solidFill>
            <a:srgbClr val="1DC95F"/>
          </a:solidFill>
          <a:ln>
            <a:solidFill>
              <a:srgbClr val="1DC9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4320" y="3209544"/>
            <a:ext cx="178308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10" b="1" i="0">
                <a:solidFill>
                  <a:srgbClr val="FFFFFF"/>
                </a:solidFill>
                <a:latin typeface="Arial"/>
              </a:rPr>
              <a:t>Modernize security operations…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0312" y="3429000"/>
            <a:ext cx="1956816" cy="201168"/>
          </a:xfrm>
          <a:prstGeom prst="rect">
            <a:avLst/>
          </a:prstGeom>
          <a:solidFill>
            <a:srgbClr val="5F5F5F"/>
          </a:solidFill>
          <a:ln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10312" y="3685032"/>
            <a:ext cx="1956816" cy="201168"/>
          </a:xfrm>
          <a:prstGeom prst="rect">
            <a:avLst/>
          </a:prstGeom>
          <a:solidFill>
            <a:srgbClr val="C1F0F0"/>
          </a:solidFill>
          <a:ln>
            <a:solidFill>
              <a:srgbClr val="C1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10312" y="3941064"/>
            <a:ext cx="1956816" cy="201168"/>
          </a:xfrm>
          <a:prstGeom prst="rect">
            <a:avLst/>
          </a:prstGeom>
          <a:solidFill>
            <a:srgbClr val="D6CBC1"/>
          </a:solidFill>
          <a:ln>
            <a:solidFill>
              <a:srgbClr val="D6CB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01168" y="4251960"/>
            <a:ext cx="196596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1" i="0">
                <a:solidFill>
                  <a:srgbClr val="000000"/>
                </a:solidFill>
                <a:latin typeface="Arial"/>
              </a:rPr>
              <a:t>Scenario-based maturity uplift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507992"/>
            <a:ext cx="256032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x1.2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4507992"/>
            <a:ext cx="256032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x1.5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4507992"/>
            <a:ext cx="256032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x1.8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11480" y="4709160"/>
            <a:ext cx="1737360" cy="0"/>
          </a:xfrm>
          <a:prstGeom prst="line">
            <a:avLst/>
          </a:prstGeom>
          <a:ln>
            <a:solidFill>
              <a:srgbClr val="D0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011680" y="4636008"/>
            <a:ext cx="137160" cy="73152"/>
          </a:xfrm>
          <a:prstGeom prst="line">
            <a:avLst/>
          </a:prstGeom>
          <a:ln>
            <a:solidFill>
              <a:srgbClr val="D0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011680" y="4709160"/>
            <a:ext cx="137160" cy="73152"/>
          </a:xfrm>
          <a:prstGeom prst="line">
            <a:avLst/>
          </a:prstGeom>
          <a:ln>
            <a:solidFill>
              <a:srgbClr val="D0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10312" y="4754880"/>
            <a:ext cx="137160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6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4782312"/>
            <a:ext cx="182880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Arial"/>
              </a:rPr>
              <a:t>Y1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4782312"/>
            <a:ext cx="182880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Arial"/>
              </a:rPr>
              <a:t>Y2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74519" y="4782312"/>
            <a:ext cx="182880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Arial"/>
              </a:rPr>
              <a:t>Y3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1168" y="5102352"/>
            <a:ext cx="118872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1" i="0">
                <a:solidFill>
                  <a:srgbClr val="000000"/>
                </a:solidFill>
                <a:latin typeface="Arial"/>
              </a:rPr>
              <a:t>Domains impacted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0312" y="5321808"/>
            <a:ext cx="1956816" cy="228600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10312" y="5321808"/>
            <a:ext cx="164592" cy="228600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37744" y="5367528"/>
            <a:ext cx="91440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5367528"/>
            <a:ext cx="1645920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Arial"/>
              </a:rPr>
              <a:t>Weak Authentication and Acc…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0312" y="5614416"/>
            <a:ext cx="1956816" cy="228600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210312" y="5614416"/>
            <a:ext cx="164592" cy="228600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37744" y="5660136"/>
            <a:ext cx="91440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" y="5660136"/>
            <a:ext cx="1645920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Arial"/>
              </a:rPr>
              <a:t>Data Encryption Gaps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51760" y="347472"/>
            <a:ext cx="164592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Initiative Overview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97480" y="530352"/>
            <a:ext cx="182880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600" b="0" i="1">
                <a:solidFill>
                  <a:srgbClr val="5E5E5E"/>
                </a:solidFill>
                <a:latin typeface="Arial"/>
              </a:rPr>
              <a:t>Initiative Overview Description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33472" y="694944"/>
            <a:ext cx="3127248" cy="85953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697480" y="731520"/>
            <a:ext cx="2926080" cy="7680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5E5E5E"/>
                </a:solidFill>
                <a:latin typeface="Arial"/>
              </a:rPr>
              <a:t>This initiative addresses the risk of unauthorized access to customer data due to weak authentication mechanisms.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51760" y="1664208"/>
            <a:ext cx="164592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Initiative Owner(s)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43200" y="1901952"/>
            <a:ext cx="118872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600" b="0" i="1">
                <a:solidFill>
                  <a:srgbClr val="5E5E5E"/>
                </a:solidFill>
                <a:latin typeface="Arial"/>
              </a:rPr>
              <a:t>Initiative owner name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0" y="2029968"/>
            <a:ext cx="237744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D01820"/>
                </a:solidFill>
                <a:latin typeface="Arial"/>
              </a:rPr>
              <a:t>CISO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0" y="2212848"/>
            <a:ext cx="146304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Arial"/>
              </a:rPr>
              <a:t>Supporting Functions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3200" y="2359152"/>
            <a:ext cx="292608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5E5E5E"/>
                </a:solidFill>
                <a:latin typeface="Arial"/>
              </a:rPr>
              <a:t>CISO, IT, Risk, Legal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51760" y="2761488"/>
            <a:ext cx="164592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Initiative Projects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697480" y="2980944"/>
            <a:ext cx="256032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D01820"/>
                </a:solidFill>
                <a:latin typeface="Arial"/>
              </a:rPr>
              <a:t>1.Privileged Access Management Enhancement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43200" y="3127248"/>
            <a:ext cx="28346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30" b="0" i="0">
                <a:solidFill>
                  <a:srgbClr val="5E5E5E"/>
                </a:solidFill>
                <a:latin typeface="Arial"/>
              </a:rPr>
              <a:t>This initiative addresses the risk of unauthorized access to customer data due to weak authentication mechanisms.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44768" y="347472"/>
            <a:ext cx="164592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Initiative Timeline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53328" y="694944"/>
            <a:ext cx="5623560" cy="18105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680960" y="658368"/>
            <a:ext cx="64008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Year 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25712" y="658368"/>
            <a:ext cx="64008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Year 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70464" y="658368"/>
            <a:ext cx="64008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Year 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260336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260336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616952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616952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973568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973568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330183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330183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695944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695944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052560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052560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409176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409176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Q3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765792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765792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Q4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131552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0131552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488168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10488168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844784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10844784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201400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1201400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Q4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053328" y="1078992"/>
            <a:ext cx="5623560" cy="365760"/>
          </a:xfrm>
          <a:prstGeom prst="rect">
            <a:avLst/>
          </a:prstGeom>
          <a:solidFill>
            <a:srgbClr val="F2F2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6153912" y="1152144"/>
            <a:ext cx="10972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40" b="1" i="1">
                <a:solidFill>
                  <a:srgbClr val="000000"/>
                </a:solidFill>
                <a:latin typeface="Arial"/>
              </a:rPr>
              <a:t>Enhance Privileged Acces…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260336" y="1207007"/>
            <a:ext cx="685800" cy="73152"/>
          </a:xfrm>
          <a:prstGeom prst="rect">
            <a:avLst/>
          </a:prstGeom>
          <a:solidFill>
            <a:srgbClr val="6CE5A8"/>
          </a:solidFill>
          <a:ln>
            <a:solidFill>
              <a:srgbClr val="6CE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6053328" y="1508760"/>
            <a:ext cx="5623560" cy="365760"/>
          </a:xfrm>
          <a:prstGeom prst="rect">
            <a:avLst/>
          </a:prstGeom>
          <a:solidFill>
            <a:srgbClr val="F2F2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6153912" y="1581912"/>
            <a:ext cx="10972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40" b="1" i="1">
                <a:solidFill>
                  <a:srgbClr val="000000"/>
                </a:solidFill>
                <a:latin typeface="Arial"/>
              </a:rPr>
              <a:t>Implement Multi-Factor A…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616952" y="1636776"/>
            <a:ext cx="329184" cy="73152"/>
          </a:xfrm>
          <a:prstGeom prst="rect">
            <a:avLst/>
          </a:prstGeom>
          <a:solidFill>
            <a:srgbClr val="6CE5A8"/>
          </a:solidFill>
          <a:ln>
            <a:solidFill>
              <a:srgbClr val="6CE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6053328" y="1938528"/>
            <a:ext cx="5623560" cy="365760"/>
          </a:xfrm>
          <a:prstGeom prst="rect">
            <a:avLst/>
          </a:prstGeom>
          <a:solidFill>
            <a:srgbClr val="F2F2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153912" y="2011680"/>
            <a:ext cx="10972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40" b="1" i="1">
                <a:solidFill>
                  <a:srgbClr val="000000"/>
                </a:solidFill>
                <a:latin typeface="Arial"/>
              </a:rPr>
              <a:t>Encrypt HR Data at Rest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973568" y="2066544"/>
            <a:ext cx="329184" cy="73152"/>
          </a:xfrm>
          <a:prstGeom prst="rect">
            <a:avLst/>
          </a:prstGeom>
          <a:solidFill>
            <a:srgbClr val="6CE5A8"/>
          </a:solidFill>
          <a:ln>
            <a:solidFill>
              <a:srgbClr val="6CE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8732520" y="2761488"/>
            <a:ext cx="100584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Arial"/>
              </a:rPr>
              <a:t>AI use case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741664" y="2962656"/>
            <a:ext cx="265176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30" b="0" i="0">
                <a:solidFill>
                  <a:srgbClr val="5E5E5E"/>
                </a:solidFill>
                <a:latin typeface="Arial"/>
              </a:rPr>
              <a:t>Use AI to synthesize evidence, map risks, and prepare board-ready updates for this initiative.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732520" y="3886200"/>
            <a:ext cx="73152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Arial"/>
              </a:rPr>
              <a:t>Priority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732520" y="4096512"/>
            <a:ext cx="621792" cy="201168"/>
          </a:xfrm>
          <a:prstGeom prst="roundRect">
            <a:avLst/>
          </a:prstGeom>
          <a:solidFill>
            <a:srgbClr val="1A202C"/>
          </a:solidFill>
          <a:ln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8732520" y="4122024"/>
            <a:ext cx="62179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High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9445752" y="4096512"/>
            <a:ext cx="621792" cy="201168"/>
          </a:xfrm>
          <a:prstGeom prst="round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9445752" y="4122024"/>
            <a:ext cx="62179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Medium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0158984" y="4096512"/>
            <a:ext cx="621792" cy="201168"/>
          </a:xfrm>
          <a:prstGeom prst="round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10158984" y="4115828"/>
            <a:ext cx="62179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Low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732520" y="4462272"/>
            <a:ext cx="91440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Arial"/>
              </a:rPr>
              <a:t>Dependencies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732520" y="4645152"/>
            <a:ext cx="2743200" cy="56692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720">
                <a:solidFill>
                  <a:srgbClr val="5E5E5E"/>
                </a:solidFill>
                <a:latin typeface="Arial"/>
              </a:rPr>
              <a:t>• No dependency provided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732520" y="5440680"/>
            <a:ext cx="128016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Arial"/>
              </a:rPr>
              <a:t>Challenges addressed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732520" y="5678424"/>
            <a:ext cx="2697480" cy="210312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8732520" y="5678424"/>
            <a:ext cx="164592" cy="210312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8778240" y="5715000"/>
            <a:ext cx="73152" cy="822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8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42832" y="5715000"/>
            <a:ext cx="2331720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Arial"/>
              </a:rPr>
              <a:t>Weak Authentication and Access Controls: Multip…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732520" y="5961888"/>
            <a:ext cx="2697480" cy="210312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8732520" y="5961888"/>
            <a:ext cx="164592" cy="210312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8778240" y="5998464"/>
            <a:ext cx="73152" cy="822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8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42832" y="5998464"/>
            <a:ext cx="2331720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Arial"/>
              </a:rPr>
              <a:t>Data Encryption Gaps: There are recurring menti…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921240" y="6419088"/>
            <a:ext cx="1828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550" b="0" i="0">
                <a:solidFill>
                  <a:srgbClr val="5E5E5E"/>
                </a:solidFill>
                <a:latin typeface="Arial"/>
              </a:rPr>
              <a:t>Copyright © 2026 Accenture. All rights reserved.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" y="182880"/>
            <a:ext cx="12024360" cy="63093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274320"/>
            <a:ext cx="2240280" cy="74980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347472"/>
            <a:ext cx="155448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Arial"/>
              </a:rPr>
              <a:t>Security Domain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48640"/>
            <a:ext cx="18288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Third-Party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1060704"/>
            <a:ext cx="2240280" cy="786384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64592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Arial"/>
              </a:rPr>
              <a:t>Initiative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335024"/>
            <a:ext cx="193852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19" b="1" i="0">
                <a:solidFill>
                  <a:srgbClr val="FFFFFF"/>
                </a:solidFill>
                <a:latin typeface="Arial"/>
              </a:rPr>
              <a:t>Multi-Factor Authentication Implementation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" y="1965960"/>
            <a:ext cx="1088136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9456" y="2020824"/>
            <a:ext cx="91440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5E5E5E"/>
                </a:solidFill>
                <a:latin typeface="Arial"/>
              </a:rPr>
              <a:t>Start 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" y="2139696"/>
            <a:ext cx="96012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Q2 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4732" y="1965960"/>
            <a:ext cx="1088136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39596" y="2020824"/>
            <a:ext cx="91440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5E5E5E"/>
                </a:solidFill>
                <a:latin typeface="Arial"/>
              </a:rPr>
              <a:t>Duration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9596" y="2139696"/>
            <a:ext cx="96012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3 months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4592" y="2450591"/>
            <a:ext cx="1088136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9456" y="2505456"/>
            <a:ext cx="91440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5E5E5E"/>
                </a:solidFill>
                <a:latin typeface="Arial"/>
              </a:rPr>
              <a:t>Budget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" y="2624327"/>
            <a:ext cx="96012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00" b="1" i="0">
                <a:solidFill>
                  <a:srgbClr val="000000"/>
                </a:solidFill>
                <a:latin typeface="Arial"/>
              </a:rPr>
              <a:t>$50,000-
$100,000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84732" y="2450591"/>
            <a:ext cx="1088136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39596" y="2505456"/>
            <a:ext cx="91440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5E5E5E"/>
                </a:solidFill>
                <a:latin typeface="Arial"/>
              </a:rPr>
              <a:t>FTEs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9596" y="2624327"/>
            <a:ext cx="96012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TBD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2971800"/>
            <a:ext cx="192024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1" i="0">
                <a:solidFill>
                  <a:srgbClr val="000000"/>
                </a:solidFill>
                <a:latin typeface="Arial"/>
              </a:rPr>
              <a:t>Strategic Objective Covered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0312" y="3172968"/>
            <a:ext cx="1956816" cy="201168"/>
          </a:xfrm>
          <a:prstGeom prst="rect">
            <a:avLst/>
          </a:prstGeom>
          <a:solidFill>
            <a:srgbClr val="1DC95F"/>
          </a:solidFill>
          <a:ln>
            <a:solidFill>
              <a:srgbClr val="1DC9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4320" y="3209544"/>
            <a:ext cx="178308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10" b="1" i="0">
                <a:solidFill>
                  <a:srgbClr val="FFFFFF"/>
                </a:solidFill>
                <a:latin typeface="Arial"/>
              </a:rPr>
              <a:t>Protect customer trust during…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0312" y="3429000"/>
            <a:ext cx="1956816" cy="201168"/>
          </a:xfrm>
          <a:prstGeom prst="rect">
            <a:avLst/>
          </a:prstGeom>
          <a:solidFill>
            <a:srgbClr val="5F5F5F"/>
          </a:solidFill>
          <a:ln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10312" y="3685032"/>
            <a:ext cx="1956816" cy="201168"/>
          </a:xfrm>
          <a:prstGeom prst="rect">
            <a:avLst/>
          </a:prstGeom>
          <a:solidFill>
            <a:srgbClr val="C1F0F0"/>
          </a:solidFill>
          <a:ln>
            <a:solidFill>
              <a:srgbClr val="C1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10312" y="3941064"/>
            <a:ext cx="1956816" cy="201168"/>
          </a:xfrm>
          <a:prstGeom prst="rect">
            <a:avLst/>
          </a:prstGeom>
          <a:solidFill>
            <a:srgbClr val="D6CBC1"/>
          </a:solidFill>
          <a:ln>
            <a:solidFill>
              <a:srgbClr val="D6CB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01168" y="4251960"/>
            <a:ext cx="196596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1" i="0">
                <a:solidFill>
                  <a:srgbClr val="000000"/>
                </a:solidFill>
                <a:latin typeface="Arial"/>
              </a:rPr>
              <a:t>Scenario-based maturity uplift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507992"/>
            <a:ext cx="256032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x1.2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4507992"/>
            <a:ext cx="256032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x1.5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4507992"/>
            <a:ext cx="256032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x1.8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11480" y="4709160"/>
            <a:ext cx="1737360" cy="0"/>
          </a:xfrm>
          <a:prstGeom prst="line">
            <a:avLst/>
          </a:prstGeom>
          <a:ln>
            <a:solidFill>
              <a:srgbClr val="D0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011680" y="4636008"/>
            <a:ext cx="137160" cy="73152"/>
          </a:xfrm>
          <a:prstGeom prst="line">
            <a:avLst/>
          </a:prstGeom>
          <a:ln>
            <a:solidFill>
              <a:srgbClr val="D0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011680" y="4709160"/>
            <a:ext cx="137160" cy="73152"/>
          </a:xfrm>
          <a:prstGeom prst="line">
            <a:avLst/>
          </a:prstGeom>
          <a:ln>
            <a:solidFill>
              <a:srgbClr val="D0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10312" y="4754880"/>
            <a:ext cx="137160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6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4782312"/>
            <a:ext cx="182880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Arial"/>
              </a:rPr>
              <a:t>Y1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4782312"/>
            <a:ext cx="182880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Arial"/>
              </a:rPr>
              <a:t>Y2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74519" y="4782312"/>
            <a:ext cx="182880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Arial"/>
              </a:rPr>
              <a:t>Y3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1168" y="5102352"/>
            <a:ext cx="118872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1" i="0">
                <a:solidFill>
                  <a:srgbClr val="000000"/>
                </a:solidFill>
                <a:latin typeface="Arial"/>
              </a:rPr>
              <a:t>Domains impacted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0312" y="5321808"/>
            <a:ext cx="1956816" cy="228600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10312" y="5321808"/>
            <a:ext cx="164592" cy="228600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37744" y="5367528"/>
            <a:ext cx="91440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5367528"/>
            <a:ext cx="1645920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Arial"/>
              </a:rPr>
              <a:t>Weak Authentication and Acc…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0312" y="5614416"/>
            <a:ext cx="1956816" cy="228600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210312" y="5614416"/>
            <a:ext cx="164592" cy="228600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37744" y="5660136"/>
            <a:ext cx="91440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" y="5660136"/>
            <a:ext cx="1645920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Arial"/>
              </a:rPr>
              <a:t>Data Encryption Gaps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51760" y="347472"/>
            <a:ext cx="164592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Initiative Overview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97480" y="530352"/>
            <a:ext cx="182880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600" b="0" i="1">
                <a:solidFill>
                  <a:srgbClr val="5E5E5E"/>
                </a:solidFill>
                <a:latin typeface="Arial"/>
              </a:rPr>
              <a:t>Initiative Overview Description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33472" y="694944"/>
            <a:ext cx="3127248" cy="85953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697480" y="731520"/>
            <a:ext cx="2926080" cy="7680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5E5E5E"/>
                </a:solidFill>
                <a:latin typeface="Arial"/>
              </a:rPr>
              <a:t>This initiative mitigates the risk of identity compromise due to lack of MFA in the identity service.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51760" y="1664208"/>
            <a:ext cx="164592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Initiative Owner(s)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43200" y="1901952"/>
            <a:ext cx="118872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600" b="0" i="1">
                <a:solidFill>
                  <a:srgbClr val="5E5E5E"/>
                </a:solidFill>
                <a:latin typeface="Arial"/>
              </a:rPr>
              <a:t>Initiative owner name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0" y="2029968"/>
            <a:ext cx="237744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D01820"/>
                </a:solidFill>
                <a:latin typeface="Arial"/>
              </a:rPr>
              <a:t>IT Security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0" y="2212848"/>
            <a:ext cx="146304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Arial"/>
              </a:rPr>
              <a:t>Supporting Functions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3200" y="2359152"/>
            <a:ext cx="292608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5E5E5E"/>
                </a:solidFill>
                <a:latin typeface="Arial"/>
              </a:rPr>
              <a:t>IT Security, IT, Risk, Legal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51760" y="2761488"/>
            <a:ext cx="164592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Initiative Projects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697480" y="2980944"/>
            <a:ext cx="256032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D01820"/>
                </a:solidFill>
                <a:latin typeface="Arial"/>
              </a:rPr>
              <a:t>1.Multi-Factor Authentication Implementation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43200" y="3127248"/>
            <a:ext cx="28346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30" b="0" i="0">
                <a:solidFill>
                  <a:srgbClr val="5E5E5E"/>
                </a:solidFill>
                <a:latin typeface="Arial"/>
              </a:rPr>
              <a:t>This initiative mitigates the risk of identity compromise due to lack of MFA in the identity service.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44768" y="347472"/>
            <a:ext cx="164592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Initiative Timeline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53328" y="694944"/>
            <a:ext cx="5623560" cy="18105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680960" y="658368"/>
            <a:ext cx="64008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Year 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25712" y="658368"/>
            <a:ext cx="64008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Year 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70464" y="658368"/>
            <a:ext cx="64008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Year 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260336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260336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616952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616952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973568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973568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330183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330183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695944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695944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052560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052560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409176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409176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Q3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765792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765792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Q4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131552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0131552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488168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10488168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844784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10844784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201400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1201400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Q4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053328" y="1078992"/>
            <a:ext cx="5623560" cy="365760"/>
          </a:xfrm>
          <a:prstGeom prst="rect">
            <a:avLst/>
          </a:prstGeom>
          <a:solidFill>
            <a:srgbClr val="F2F2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6153912" y="1152144"/>
            <a:ext cx="10972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40" b="1" i="1">
                <a:solidFill>
                  <a:srgbClr val="000000"/>
                </a:solidFill>
                <a:latin typeface="Arial"/>
              </a:rPr>
              <a:t>Enhance Privileged Acces…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260336" y="1207007"/>
            <a:ext cx="329184" cy="73152"/>
          </a:xfrm>
          <a:prstGeom prst="rect">
            <a:avLst/>
          </a:prstGeom>
          <a:solidFill>
            <a:srgbClr val="6CE5A8"/>
          </a:solidFill>
          <a:ln>
            <a:solidFill>
              <a:srgbClr val="6CE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6053328" y="1508760"/>
            <a:ext cx="5623560" cy="365760"/>
          </a:xfrm>
          <a:prstGeom prst="rect">
            <a:avLst/>
          </a:prstGeom>
          <a:solidFill>
            <a:srgbClr val="F2F2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6153912" y="1581912"/>
            <a:ext cx="10972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40" b="1" i="1">
                <a:solidFill>
                  <a:srgbClr val="000000"/>
                </a:solidFill>
                <a:latin typeface="Arial"/>
              </a:rPr>
              <a:t>Implement Multi-Factor A…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616952" y="1636776"/>
            <a:ext cx="329184" cy="73152"/>
          </a:xfrm>
          <a:prstGeom prst="rect">
            <a:avLst/>
          </a:prstGeom>
          <a:solidFill>
            <a:srgbClr val="6CE5A8"/>
          </a:solidFill>
          <a:ln>
            <a:solidFill>
              <a:srgbClr val="6CE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6053328" y="1938528"/>
            <a:ext cx="5623560" cy="365760"/>
          </a:xfrm>
          <a:prstGeom prst="rect">
            <a:avLst/>
          </a:prstGeom>
          <a:solidFill>
            <a:srgbClr val="F2F2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153912" y="2011680"/>
            <a:ext cx="10972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40" b="1" i="1">
                <a:solidFill>
                  <a:srgbClr val="000000"/>
                </a:solidFill>
                <a:latin typeface="Arial"/>
              </a:rPr>
              <a:t>Encrypt HR Data at Rest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973568" y="2066544"/>
            <a:ext cx="329184" cy="73152"/>
          </a:xfrm>
          <a:prstGeom prst="rect">
            <a:avLst/>
          </a:prstGeom>
          <a:solidFill>
            <a:srgbClr val="6CE5A8"/>
          </a:solidFill>
          <a:ln>
            <a:solidFill>
              <a:srgbClr val="6CE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8732520" y="2761488"/>
            <a:ext cx="100584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Arial"/>
              </a:rPr>
              <a:t>AI use case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741664" y="2962656"/>
            <a:ext cx="265176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30" b="0" i="0">
                <a:solidFill>
                  <a:srgbClr val="5E5E5E"/>
                </a:solidFill>
                <a:latin typeface="Arial"/>
              </a:rPr>
              <a:t>Use AI to synthesize evidence, map risks, and prepare board-ready updates for this initiative.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732520" y="3886200"/>
            <a:ext cx="73152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Arial"/>
              </a:rPr>
              <a:t>Priority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732520" y="4096512"/>
            <a:ext cx="621792" cy="201168"/>
          </a:xfrm>
          <a:prstGeom prst="roundRect">
            <a:avLst/>
          </a:prstGeom>
          <a:solidFill>
            <a:srgbClr val="1A202C"/>
          </a:solidFill>
          <a:ln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8732520" y="4115829"/>
            <a:ext cx="62179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High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9445752" y="4096512"/>
            <a:ext cx="621792" cy="201168"/>
          </a:xfrm>
          <a:prstGeom prst="round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9445752" y="4115829"/>
            <a:ext cx="62179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Medium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0158984" y="4096512"/>
            <a:ext cx="621792" cy="201168"/>
          </a:xfrm>
          <a:prstGeom prst="round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10158984" y="4122024"/>
            <a:ext cx="62179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Low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732520" y="4462272"/>
            <a:ext cx="91440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Arial"/>
              </a:rPr>
              <a:t>Dependencies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732520" y="4645152"/>
            <a:ext cx="2743200" cy="56692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720">
                <a:solidFill>
                  <a:srgbClr val="5E5E5E"/>
                </a:solidFill>
                <a:latin typeface="Arial"/>
              </a:rPr>
              <a:t>• No dependency provided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732520" y="5440680"/>
            <a:ext cx="128016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Arial"/>
              </a:rPr>
              <a:t>Challenges addressed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732520" y="5678424"/>
            <a:ext cx="2697480" cy="210312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8732520" y="5678424"/>
            <a:ext cx="164592" cy="210312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8778240" y="5715000"/>
            <a:ext cx="73152" cy="822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8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42832" y="5715000"/>
            <a:ext cx="2331720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Arial"/>
              </a:rPr>
              <a:t>Weak Authentication and Access Controls: Multip…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732520" y="5961888"/>
            <a:ext cx="2697480" cy="210312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8732520" y="5961888"/>
            <a:ext cx="164592" cy="210312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8778240" y="5998464"/>
            <a:ext cx="73152" cy="822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8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42832" y="5998464"/>
            <a:ext cx="2331720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Arial"/>
              </a:rPr>
              <a:t>Data Encryption Gaps: There are recurring menti…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921240" y="6419088"/>
            <a:ext cx="1828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550" b="0" i="0">
                <a:solidFill>
                  <a:srgbClr val="5E5E5E"/>
                </a:solidFill>
                <a:latin typeface="Arial"/>
              </a:rPr>
              <a:t>Copyright © 2026 Accenture. All rights reserved.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" y="182880"/>
            <a:ext cx="12024360" cy="63093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274320"/>
            <a:ext cx="2240280" cy="74980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347472"/>
            <a:ext cx="155448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Arial"/>
              </a:rPr>
              <a:t>Security Domain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48640"/>
            <a:ext cx="18288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Third-Party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1060704"/>
            <a:ext cx="2240280" cy="786384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64592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Arial"/>
              </a:rPr>
              <a:t>Initiative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335024"/>
            <a:ext cx="193852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Encryption at Rest for HR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" y="1965960"/>
            <a:ext cx="1088136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9456" y="2020824"/>
            <a:ext cx="91440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5E5E5E"/>
                </a:solidFill>
                <a:latin typeface="Arial"/>
              </a:rPr>
              <a:t>Start 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" y="2139696"/>
            <a:ext cx="96012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Q3 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4732" y="1965960"/>
            <a:ext cx="1088136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39596" y="2020824"/>
            <a:ext cx="91440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5E5E5E"/>
                </a:solidFill>
                <a:latin typeface="Arial"/>
              </a:rPr>
              <a:t>Duration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9596" y="2139696"/>
            <a:ext cx="96012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4 months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4592" y="2450591"/>
            <a:ext cx="1088136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9456" y="2505456"/>
            <a:ext cx="91440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5E5E5E"/>
                </a:solidFill>
                <a:latin typeface="Arial"/>
              </a:rPr>
              <a:t>Budget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" y="2624327"/>
            <a:ext cx="96012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00" b="1" i="0">
                <a:solidFill>
                  <a:srgbClr val="000000"/>
                </a:solidFill>
                <a:latin typeface="Arial"/>
              </a:rPr>
              <a:t>$75,000-
$125,000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84732" y="2450591"/>
            <a:ext cx="1088136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39596" y="2505456"/>
            <a:ext cx="91440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5E5E5E"/>
                </a:solidFill>
                <a:latin typeface="Arial"/>
              </a:rPr>
              <a:t>FTEs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9596" y="2624327"/>
            <a:ext cx="96012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TBD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2971800"/>
            <a:ext cx="192024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1" i="0">
                <a:solidFill>
                  <a:srgbClr val="000000"/>
                </a:solidFill>
                <a:latin typeface="Arial"/>
              </a:rPr>
              <a:t>Strategic Objective Covered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0312" y="3172968"/>
            <a:ext cx="1956816" cy="201168"/>
          </a:xfrm>
          <a:prstGeom prst="rect">
            <a:avLst/>
          </a:prstGeom>
          <a:solidFill>
            <a:srgbClr val="1DC95F"/>
          </a:solidFill>
          <a:ln>
            <a:solidFill>
              <a:srgbClr val="1DC9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4320" y="3209544"/>
            <a:ext cx="178308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10" b="1" i="0">
                <a:solidFill>
                  <a:srgbClr val="FFFFFF"/>
                </a:solidFill>
                <a:latin typeface="Arial"/>
              </a:rPr>
              <a:t>Improve governance and compli…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0312" y="3429000"/>
            <a:ext cx="1956816" cy="201168"/>
          </a:xfrm>
          <a:prstGeom prst="rect">
            <a:avLst/>
          </a:prstGeom>
          <a:solidFill>
            <a:srgbClr val="5F5F5F"/>
          </a:solidFill>
          <a:ln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10312" y="3685032"/>
            <a:ext cx="1956816" cy="201168"/>
          </a:xfrm>
          <a:prstGeom prst="rect">
            <a:avLst/>
          </a:prstGeom>
          <a:solidFill>
            <a:srgbClr val="C1F0F0"/>
          </a:solidFill>
          <a:ln>
            <a:solidFill>
              <a:srgbClr val="C1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10312" y="3941064"/>
            <a:ext cx="1956816" cy="201168"/>
          </a:xfrm>
          <a:prstGeom prst="rect">
            <a:avLst/>
          </a:prstGeom>
          <a:solidFill>
            <a:srgbClr val="D6CBC1"/>
          </a:solidFill>
          <a:ln>
            <a:solidFill>
              <a:srgbClr val="D6CB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01168" y="4251960"/>
            <a:ext cx="196596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1" i="0">
                <a:solidFill>
                  <a:srgbClr val="000000"/>
                </a:solidFill>
                <a:latin typeface="Arial"/>
              </a:rPr>
              <a:t>Scenario-based maturity uplift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507992"/>
            <a:ext cx="256032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x1.2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4507992"/>
            <a:ext cx="256032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x1.5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4507992"/>
            <a:ext cx="256032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x1.8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11480" y="4709160"/>
            <a:ext cx="1737360" cy="0"/>
          </a:xfrm>
          <a:prstGeom prst="line">
            <a:avLst/>
          </a:prstGeom>
          <a:ln>
            <a:solidFill>
              <a:srgbClr val="D0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011680" y="4636008"/>
            <a:ext cx="137160" cy="73152"/>
          </a:xfrm>
          <a:prstGeom prst="line">
            <a:avLst/>
          </a:prstGeom>
          <a:ln>
            <a:solidFill>
              <a:srgbClr val="D0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011680" y="4709160"/>
            <a:ext cx="137160" cy="73152"/>
          </a:xfrm>
          <a:prstGeom prst="line">
            <a:avLst/>
          </a:prstGeom>
          <a:ln>
            <a:solidFill>
              <a:srgbClr val="D0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10312" y="4754880"/>
            <a:ext cx="137160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6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4782312"/>
            <a:ext cx="182880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Arial"/>
              </a:rPr>
              <a:t>Y1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4782312"/>
            <a:ext cx="182880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Arial"/>
              </a:rPr>
              <a:t>Y2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74519" y="4782312"/>
            <a:ext cx="182880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Arial"/>
              </a:rPr>
              <a:t>Y3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1168" y="5102352"/>
            <a:ext cx="118872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1" i="0">
                <a:solidFill>
                  <a:srgbClr val="000000"/>
                </a:solidFill>
                <a:latin typeface="Arial"/>
              </a:rPr>
              <a:t>Domains impacted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0312" y="5321808"/>
            <a:ext cx="1956816" cy="228600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10312" y="5321808"/>
            <a:ext cx="164592" cy="228600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37744" y="5367528"/>
            <a:ext cx="91440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5367528"/>
            <a:ext cx="1645920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Arial"/>
              </a:rPr>
              <a:t>Weak Authentication and Acc…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0312" y="5614416"/>
            <a:ext cx="1956816" cy="228600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210312" y="5614416"/>
            <a:ext cx="164592" cy="228600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37744" y="5660136"/>
            <a:ext cx="91440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" y="5660136"/>
            <a:ext cx="1645920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Arial"/>
              </a:rPr>
              <a:t>Data Encryption Gaps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51760" y="347472"/>
            <a:ext cx="164592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Initiative Overview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97480" y="530352"/>
            <a:ext cx="182880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600" b="0" i="1">
                <a:solidFill>
                  <a:srgbClr val="5E5E5E"/>
                </a:solidFill>
                <a:latin typeface="Arial"/>
              </a:rPr>
              <a:t>Initiative Overview Description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33472" y="694944"/>
            <a:ext cx="3127248" cy="85953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697480" y="731520"/>
            <a:ext cx="2926080" cy="7680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5E5E5E"/>
                </a:solidFill>
                <a:latin typeface="Arial"/>
              </a:rPr>
              <a:t>This initiative addresses the risk of sensitive employee data exposure due to lack of encryption at rest.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51760" y="1664208"/>
            <a:ext cx="164592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Initiative Owner(s)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43200" y="1901952"/>
            <a:ext cx="118872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600" b="0" i="1">
                <a:solidFill>
                  <a:srgbClr val="5E5E5E"/>
                </a:solidFill>
                <a:latin typeface="Arial"/>
              </a:rPr>
              <a:t>Initiative owner name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0" y="2029968"/>
            <a:ext cx="237744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D01820"/>
                </a:solidFill>
                <a:latin typeface="Arial"/>
              </a:rPr>
              <a:t>Legal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0" y="2212848"/>
            <a:ext cx="146304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Arial"/>
              </a:rPr>
              <a:t>Supporting Functions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3200" y="2359152"/>
            <a:ext cx="292608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5E5E5E"/>
                </a:solidFill>
                <a:latin typeface="Arial"/>
              </a:rPr>
              <a:t>Legal, IT, Risk, Legal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51760" y="2761488"/>
            <a:ext cx="164592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Initiative Projects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697480" y="2980944"/>
            <a:ext cx="256032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D01820"/>
                </a:solidFill>
                <a:latin typeface="Arial"/>
              </a:rPr>
              <a:t>1.Encryption at Rest for HR Data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43200" y="3127248"/>
            <a:ext cx="28346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30" b="0" i="0">
                <a:solidFill>
                  <a:srgbClr val="5E5E5E"/>
                </a:solidFill>
                <a:latin typeface="Arial"/>
              </a:rPr>
              <a:t>This initiative addresses the risk of sensitive employee data exposure due to lack of encryption at rest.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44768" y="347472"/>
            <a:ext cx="164592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Initiative Timeline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53328" y="694944"/>
            <a:ext cx="5623560" cy="18105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680960" y="658368"/>
            <a:ext cx="64008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Year 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25712" y="658368"/>
            <a:ext cx="64008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Year 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70464" y="658368"/>
            <a:ext cx="64008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Year 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260336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260336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616952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616952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973568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973568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330183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330183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695944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695944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052560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052560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409176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409176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Q3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765792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765792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Q4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131552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0131552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488168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10488168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844784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10844784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201400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1201400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Q4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053328" y="1078992"/>
            <a:ext cx="5623560" cy="365760"/>
          </a:xfrm>
          <a:prstGeom prst="rect">
            <a:avLst/>
          </a:prstGeom>
          <a:solidFill>
            <a:srgbClr val="F2F2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6153912" y="1152144"/>
            <a:ext cx="10972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40" b="1" i="1">
                <a:solidFill>
                  <a:srgbClr val="000000"/>
                </a:solidFill>
                <a:latin typeface="Arial"/>
              </a:rPr>
              <a:t>Enhance Privileged Acces…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260336" y="1207007"/>
            <a:ext cx="329184" cy="73152"/>
          </a:xfrm>
          <a:prstGeom prst="rect">
            <a:avLst/>
          </a:prstGeom>
          <a:solidFill>
            <a:srgbClr val="6CE5A8"/>
          </a:solidFill>
          <a:ln>
            <a:solidFill>
              <a:srgbClr val="6CE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6053328" y="1508760"/>
            <a:ext cx="5623560" cy="365760"/>
          </a:xfrm>
          <a:prstGeom prst="rect">
            <a:avLst/>
          </a:prstGeom>
          <a:solidFill>
            <a:srgbClr val="F2F2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6153912" y="1581912"/>
            <a:ext cx="10972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40" b="1" i="1">
                <a:solidFill>
                  <a:srgbClr val="000000"/>
                </a:solidFill>
                <a:latin typeface="Arial"/>
              </a:rPr>
              <a:t>Implement Multi-Factor A…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616952" y="1636776"/>
            <a:ext cx="329184" cy="73152"/>
          </a:xfrm>
          <a:prstGeom prst="rect">
            <a:avLst/>
          </a:prstGeom>
          <a:solidFill>
            <a:srgbClr val="6CE5A8"/>
          </a:solidFill>
          <a:ln>
            <a:solidFill>
              <a:srgbClr val="6CE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6053328" y="1938528"/>
            <a:ext cx="5623560" cy="365760"/>
          </a:xfrm>
          <a:prstGeom prst="rect">
            <a:avLst/>
          </a:prstGeom>
          <a:solidFill>
            <a:srgbClr val="F2F2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153912" y="2011680"/>
            <a:ext cx="10972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40" b="1" i="1">
                <a:solidFill>
                  <a:srgbClr val="000000"/>
                </a:solidFill>
                <a:latin typeface="Arial"/>
              </a:rPr>
              <a:t>Encrypt HR Data at Rest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973568" y="2066544"/>
            <a:ext cx="329184" cy="73152"/>
          </a:xfrm>
          <a:prstGeom prst="rect">
            <a:avLst/>
          </a:prstGeom>
          <a:solidFill>
            <a:srgbClr val="6CE5A8"/>
          </a:solidFill>
          <a:ln>
            <a:solidFill>
              <a:srgbClr val="6CE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8732520" y="2761488"/>
            <a:ext cx="100584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Arial"/>
              </a:rPr>
              <a:t>AI use case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741664" y="2962656"/>
            <a:ext cx="265176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30" b="0" i="0">
                <a:solidFill>
                  <a:srgbClr val="5E5E5E"/>
                </a:solidFill>
                <a:latin typeface="Arial"/>
              </a:rPr>
              <a:t>Use AI to synthesize evidence, map risks, and prepare board-ready updates for this initiative.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732520" y="3886200"/>
            <a:ext cx="73152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Arial"/>
              </a:rPr>
              <a:t>Priority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732520" y="4096512"/>
            <a:ext cx="621792" cy="201168"/>
          </a:xfrm>
          <a:prstGeom prst="roundRect">
            <a:avLst/>
          </a:prstGeom>
          <a:solidFill>
            <a:srgbClr val="1A202C"/>
          </a:solidFill>
          <a:ln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8732520" y="4128219"/>
            <a:ext cx="62179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High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9445752" y="4096512"/>
            <a:ext cx="621792" cy="201168"/>
          </a:xfrm>
          <a:prstGeom prst="round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9445752" y="4122024"/>
            <a:ext cx="62179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Medium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0158984" y="4096512"/>
            <a:ext cx="621792" cy="201168"/>
          </a:xfrm>
          <a:prstGeom prst="round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10158984" y="4122024"/>
            <a:ext cx="62179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Low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732520" y="4462272"/>
            <a:ext cx="91440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Arial"/>
              </a:rPr>
              <a:t>Dependencies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732520" y="4645152"/>
            <a:ext cx="2743200" cy="56692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720">
                <a:solidFill>
                  <a:srgbClr val="5E5E5E"/>
                </a:solidFill>
                <a:latin typeface="Arial"/>
              </a:rPr>
              <a:t>• No dependency provided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732520" y="5440680"/>
            <a:ext cx="128016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Arial"/>
              </a:rPr>
              <a:t>Challenges addressed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732520" y="5678424"/>
            <a:ext cx="2697480" cy="210312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8732520" y="5678424"/>
            <a:ext cx="164592" cy="210312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8778240" y="5715000"/>
            <a:ext cx="73152" cy="822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8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42832" y="5715000"/>
            <a:ext cx="2331720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Arial"/>
              </a:rPr>
              <a:t>Weak Authentication and Access Controls: Multip…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732520" y="5961888"/>
            <a:ext cx="2697480" cy="210312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8732520" y="5961888"/>
            <a:ext cx="164592" cy="210312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8778240" y="5998464"/>
            <a:ext cx="73152" cy="822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8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42832" y="5998464"/>
            <a:ext cx="2331720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Arial"/>
              </a:rPr>
              <a:t>Data Encryption Gaps: There are recurring menti…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921240" y="6419088"/>
            <a:ext cx="1828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550" b="0" i="0">
                <a:solidFill>
                  <a:srgbClr val="5E5E5E"/>
                </a:solidFill>
                <a:latin typeface="Arial"/>
              </a:rPr>
              <a:t>Copyright © 2026 Accenture. All rights reserved.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" y="182880"/>
            <a:ext cx="12024360" cy="63093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274320"/>
            <a:ext cx="2240280" cy="74980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347472"/>
            <a:ext cx="155448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Arial"/>
              </a:rPr>
              <a:t>Security Domain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48640"/>
            <a:ext cx="18288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Third-Party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1060704"/>
            <a:ext cx="2240280" cy="786384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64592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Arial"/>
              </a:rPr>
              <a:t>Initiative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335024"/>
            <a:ext cx="193852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19" b="1" i="0">
                <a:solidFill>
                  <a:srgbClr val="FFFFFF"/>
                </a:solidFill>
                <a:latin typeface="Arial"/>
              </a:rPr>
              <a:t>Third-Party Risk Assessment Framework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" y="1965960"/>
            <a:ext cx="1088136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9456" y="2020824"/>
            <a:ext cx="91440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5E5E5E"/>
                </a:solidFill>
                <a:latin typeface="Arial"/>
              </a:rPr>
              <a:t>Start 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" y="2139696"/>
            <a:ext cx="96012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Q4 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4732" y="1965960"/>
            <a:ext cx="1088136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39596" y="2020824"/>
            <a:ext cx="91440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5E5E5E"/>
                </a:solidFill>
                <a:latin typeface="Arial"/>
              </a:rPr>
              <a:t>Duration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9596" y="2139696"/>
            <a:ext cx="96012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6 months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4592" y="2450591"/>
            <a:ext cx="1088136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9456" y="2505456"/>
            <a:ext cx="91440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5E5E5E"/>
                </a:solidFill>
                <a:latin typeface="Arial"/>
              </a:rPr>
              <a:t>Budget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" y="2624327"/>
            <a:ext cx="96012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00" b="1" i="0">
                <a:solidFill>
                  <a:srgbClr val="000000"/>
                </a:solidFill>
                <a:latin typeface="Arial"/>
              </a:rPr>
              <a:t>$150,000-
$200,000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84732" y="2450591"/>
            <a:ext cx="1088136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39596" y="2505456"/>
            <a:ext cx="91440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5E5E5E"/>
                </a:solidFill>
                <a:latin typeface="Arial"/>
              </a:rPr>
              <a:t>FTEs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9596" y="2624327"/>
            <a:ext cx="96012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TBD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2971800"/>
            <a:ext cx="192024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1" i="0">
                <a:solidFill>
                  <a:srgbClr val="000000"/>
                </a:solidFill>
                <a:latin typeface="Arial"/>
              </a:rPr>
              <a:t>Strategic Objective Covered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0312" y="3172968"/>
            <a:ext cx="1956816" cy="201168"/>
          </a:xfrm>
          <a:prstGeom prst="rect">
            <a:avLst/>
          </a:prstGeom>
          <a:solidFill>
            <a:srgbClr val="1DC95F"/>
          </a:solidFill>
          <a:ln>
            <a:solidFill>
              <a:srgbClr val="1DC9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4320" y="3209544"/>
            <a:ext cx="178308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10" b="1" i="0">
                <a:solidFill>
                  <a:srgbClr val="FFFFFF"/>
                </a:solidFill>
                <a:latin typeface="Arial"/>
              </a:rPr>
              <a:t>Elevate resilience and risk m…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0312" y="3429000"/>
            <a:ext cx="1956816" cy="201168"/>
          </a:xfrm>
          <a:prstGeom prst="rect">
            <a:avLst/>
          </a:prstGeom>
          <a:solidFill>
            <a:srgbClr val="5F5F5F"/>
          </a:solidFill>
          <a:ln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10312" y="3685032"/>
            <a:ext cx="1956816" cy="201168"/>
          </a:xfrm>
          <a:prstGeom prst="rect">
            <a:avLst/>
          </a:prstGeom>
          <a:solidFill>
            <a:srgbClr val="C1F0F0"/>
          </a:solidFill>
          <a:ln>
            <a:solidFill>
              <a:srgbClr val="C1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10312" y="3941064"/>
            <a:ext cx="1956816" cy="201168"/>
          </a:xfrm>
          <a:prstGeom prst="rect">
            <a:avLst/>
          </a:prstGeom>
          <a:solidFill>
            <a:srgbClr val="D6CBC1"/>
          </a:solidFill>
          <a:ln>
            <a:solidFill>
              <a:srgbClr val="D6CB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01168" y="4251960"/>
            <a:ext cx="196596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1" i="0">
                <a:solidFill>
                  <a:srgbClr val="000000"/>
                </a:solidFill>
                <a:latin typeface="Arial"/>
              </a:rPr>
              <a:t>Scenario-based maturity uplift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507992"/>
            <a:ext cx="256032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x1.2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4507992"/>
            <a:ext cx="256032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x1.5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4507992"/>
            <a:ext cx="256032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x1.8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11480" y="4709160"/>
            <a:ext cx="1737360" cy="0"/>
          </a:xfrm>
          <a:prstGeom prst="line">
            <a:avLst/>
          </a:prstGeom>
          <a:ln>
            <a:solidFill>
              <a:srgbClr val="D0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011680" y="4636008"/>
            <a:ext cx="137160" cy="73152"/>
          </a:xfrm>
          <a:prstGeom prst="line">
            <a:avLst/>
          </a:prstGeom>
          <a:ln>
            <a:solidFill>
              <a:srgbClr val="D0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011680" y="4709160"/>
            <a:ext cx="137160" cy="73152"/>
          </a:xfrm>
          <a:prstGeom prst="line">
            <a:avLst/>
          </a:prstGeom>
          <a:ln>
            <a:solidFill>
              <a:srgbClr val="D0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10312" y="4754880"/>
            <a:ext cx="137160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6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4782312"/>
            <a:ext cx="182880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Arial"/>
              </a:rPr>
              <a:t>Y1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4782312"/>
            <a:ext cx="182880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Arial"/>
              </a:rPr>
              <a:t>Y2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74519" y="4782312"/>
            <a:ext cx="182880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Arial"/>
              </a:rPr>
              <a:t>Y3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1168" y="5102352"/>
            <a:ext cx="118872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1" i="0">
                <a:solidFill>
                  <a:srgbClr val="000000"/>
                </a:solidFill>
                <a:latin typeface="Arial"/>
              </a:rPr>
              <a:t>Domains impacted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0312" y="5321808"/>
            <a:ext cx="1956816" cy="228600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10312" y="5321808"/>
            <a:ext cx="164592" cy="228600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37744" y="5367528"/>
            <a:ext cx="91440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5367528"/>
            <a:ext cx="1645920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Arial"/>
              </a:rPr>
              <a:t>Weak Authentication and Acc…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0312" y="5614416"/>
            <a:ext cx="1956816" cy="228600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210312" y="5614416"/>
            <a:ext cx="164592" cy="228600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37744" y="5660136"/>
            <a:ext cx="91440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" y="5660136"/>
            <a:ext cx="1645920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Arial"/>
              </a:rPr>
              <a:t>Data Encryption Gaps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51760" y="347472"/>
            <a:ext cx="164592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Initiative Overview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97480" y="530352"/>
            <a:ext cx="182880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600" b="0" i="1">
                <a:solidFill>
                  <a:srgbClr val="5E5E5E"/>
                </a:solidFill>
                <a:latin typeface="Arial"/>
              </a:rPr>
              <a:t>Initiative Overview Description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33472" y="694944"/>
            <a:ext cx="3127248" cy="85953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697480" y="731520"/>
            <a:ext cx="2926080" cy="7680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5E5E5E"/>
                </a:solidFill>
                <a:latin typeface="Arial"/>
              </a:rPr>
              <a:t>This initiative reduces the risk of financial fraud due to unmanaged third-party access.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51760" y="1664208"/>
            <a:ext cx="164592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Initiative Owner(s)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43200" y="1901952"/>
            <a:ext cx="118872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600" b="0" i="1">
                <a:solidFill>
                  <a:srgbClr val="5E5E5E"/>
                </a:solidFill>
                <a:latin typeface="Arial"/>
              </a:rPr>
              <a:t>Initiative owner name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0" y="2029968"/>
            <a:ext cx="237744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D01820"/>
                </a:solidFill>
                <a:latin typeface="Arial"/>
              </a:rPr>
              <a:t>CISO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0" y="2212848"/>
            <a:ext cx="146304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Arial"/>
              </a:rPr>
              <a:t>Supporting Functions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3200" y="2359152"/>
            <a:ext cx="292608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5E5E5E"/>
                </a:solidFill>
                <a:latin typeface="Arial"/>
              </a:rPr>
              <a:t>CISO, IT, Risk, Legal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51760" y="2761488"/>
            <a:ext cx="164592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Initiative Projects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697480" y="2980944"/>
            <a:ext cx="256032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D01820"/>
                </a:solidFill>
                <a:latin typeface="Arial"/>
              </a:rPr>
              <a:t>1.Third-Party Risk Assessment Framework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43200" y="3127248"/>
            <a:ext cx="28346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30" b="0" i="0">
                <a:solidFill>
                  <a:srgbClr val="5E5E5E"/>
                </a:solidFill>
                <a:latin typeface="Arial"/>
              </a:rPr>
              <a:t>This initiative reduces the risk of financial fraud due to unmanaged third-party access.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44768" y="347472"/>
            <a:ext cx="164592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Initiative Timeline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53328" y="694944"/>
            <a:ext cx="5623560" cy="18105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680960" y="658368"/>
            <a:ext cx="64008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Year 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25712" y="658368"/>
            <a:ext cx="64008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Year 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70464" y="658368"/>
            <a:ext cx="64008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Year 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260336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260336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616952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616952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973568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973568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330183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330183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695944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695944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052560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052560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409176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409176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Q3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765792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765792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Q4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131552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0131552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488168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10488168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844784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10844784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201400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1201400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Q4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053328" y="1078992"/>
            <a:ext cx="5623560" cy="365760"/>
          </a:xfrm>
          <a:prstGeom prst="rect">
            <a:avLst/>
          </a:prstGeom>
          <a:solidFill>
            <a:srgbClr val="F2F2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6153912" y="1152144"/>
            <a:ext cx="10972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40" b="1" i="1">
                <a:solidFill>
                  <a:srgbClr val="000000"/>
                </a:solidFill>
                <a:latin typeface="Arial"/>
              </a:rPr>
              <a:t>Enhance Privileged Acces…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260336" y="1207007"/>
            <a:ext cx="685800" cy="73152"/>
          </a:xfrm>
          <a:prstGeom prst="rect">
            <a:avLst/>
          </a:prstGeom>
          <a:solidFill>
            <a:srgbClr val="6CE5A8"/>
          </a:solidFill>
          <a:ln>
            <a:solidFill>
              <a:srgbClr val="6CE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6053328" y="1508760"/>
            <a:ext cx="5623560" cy="365760"/>
          </a:xfrm>
          <a:prstGeom prst="rect">
            <a:avLst/>
          </a:prstGeom>
          <a:solidFill>
            <a:srgbClr val="F2F2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6153912" y="1581912"/>
            <a:ext cx="10972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40" b="1" i="1">
                <a:solidFill>
                  <a:srgbClr val="000000"/>
                </a:solidFill>
                <a:latin typeface="Arial"/>
              </a:rPr>
              <a:t>Implement Multi-Factor A…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616952" y="1636776"/>
            <a:ext cx="329184" cy="73152"/>
          </a:xfrm>
          <a:prstGeom prst="rect">
            <a:avLst/>
          </a:prstGeom>
          <a:solidFill>
            <a:srgbClr val="6CE5A8"/>
          </a:solidFill>
          <a:ln>
            <a:solidFill>
              <a:srgbClr val="6CE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6053328" y="1938528"/>
            <a:ext cx="5623560" cy="365760"/>
          </a:xfrm>
          <a:prstGeom prst="rect">
            <a:avLst/>
          </a:prstGeom>
          <a:solidFill>
            <a:srgbClr val="F2F2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153912" y="2011680"/>
            <a:ext cx="10972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40" b="1" i="1">
                <a:solidFill>
                  <a:srgbClr val="000000"/>
                </a:solidFill>
                <a:latin typeface="Arial"/>
              </a:rPr>
              <a:t>Encrypt HR Data at Rest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973568" y="2066544"/>
            <a:ext cx="329184" cy="73152"/>
          </a:xfrm>
          <a:prstGeom prst="rect">
            <a:avLst/>
          </a:prstGeom>
          <a:solidFill>
            <a:srgbClr val="6CE5A8"/>
          </a:solidFill>
          <a:ln>
            <a:solidFill>
              <a:srgbClr val="6CE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8732520" y="2761488"/>
            <a:ext cx="100584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Arial"/>
              </a:rPr>
              <a:t>AI use case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741664" y="2962656"/>
            <a:ext cx="265176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30" b="0" i="0">
                <a:solidFill>
                  <a:srgbClr val="5E5E5E"/>
                </a:solidFill>
                <a:latin typeface="Arial"/>
              </a:rPr>
              <a:t>Use AI to synthesize evidence, map risks, and prepare board-ready updates for this initiative.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732520" y="3886200"/>
            <a:ext cx="73152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Arial"/>
              </a:rPr>
              <a:t>Priority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732520" y="4096512"/>
            <a:ext cx="621792" cy="201168"/>
          </a:xfrm>
          <a:prstGeom prst="round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8732520" y="4128219"/>
            <a:ext cx="62179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High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9445752" y="4096512"/>
            <a:ext cx="621792" cy="201168"/>
          </a:xfrm>
          <a:prstGeom prst="roundRect">
            <a:avLst/>
          </a:prstGeom>
          <a:solidFill>
            <a:srgbClr val="1A202C"/>
          </a:solidFill>
          <a:ln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9445752" y="4128219"/>
            <a:ext cx="62179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Medium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0158984" y="4096512"/>
            <a:ext cx="621792" cy="201168"/>
          </a:xfrm>
          <a:prstGeom prst="round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10158984" y="4115829"/>
            <a:ext cx="62179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Low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732520" y="4462272"/>
            <a:ext cx="91440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Arial"/>
              </a:rPr>
              <a:t>Dependencies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732520" y="4645152"/>
            <a:ext cx="2743200" cy="56692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720">
                <a:solidFill>
                  <a:srgbClr val="5E5E5E"/>
                </a:solidFill>
                <a:latin typeface="Arial"/>
              </a:rPr>
              <a:t>• No dependency provided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732520" y="5440680"/>
            <a:ext cx="128016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Arial"/>
              </a:rPr>
              <a:t>Challenges addressed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732520" y="5678424"/>
            <a:ext cx="2697480" cy="210312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8732520" y="5678424"/>
            <a:ext cx="164592" cy="210312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8778240" y="5715000"/>
            <a:ext cx="73152" cy="822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8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42832" y="5715000"/>
            <a:ext cx="2331720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Arial"/>
              </a:rPr>
              <a:t>Weak Authentication and Access Controls: Multip…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732520" y="5961888"/>
            <a:ext cx="2697480" cy="210312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8732520" y="5961888"/>
            <a:ext cx="164592" cy="210312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8778240" y="5998464"/>
            <a:ext cx="73152" cy="822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8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42832" y="5998464"/>
            <a:ext cx="2331720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Arial"/>
              </a:rPr>
              <a:t>Data Encryption Gaps: There are recurring menti…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921240" y="6419088"/>
            <a:ext cx="1828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550" b="0" i="0">
                <a:solidFill>
                  <a:srgbClr val="5E5E5E"/>
                </a:solidFill>
                <a:latin typeface="Arial"/>
              </a:rPr>
              <a:t>Copyright © 2026 Accenture. All rights reserved.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" y="182880"/>
            <a:ext cx="12024360" cy="63093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274320"/>
            <a:ext cx="2240280" cy="74980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347472"/>
            <a:ext cx="155448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Arial"/>
              </a:rPr>
              <a:t>Security Domain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48640"/>
            <a:ext cx="18288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Third-Party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1060704"/>
            <a:ext cx="2240280" cy="786384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64592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Arial"/>
              </a:rPr>
              <a:t>Initiative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335024"/>
            <a:ext cx="193852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19" b="1" i="0">
                <a:solidFill>
                  <a:srgbClr val="FFFFFF"/>
                </a:solidFill>
                <a:latin typeface="Arial"/>
              </a:rPr>
              <a:t>Cloud Security Configuration Review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" y="1965960"/>
            <a:ext cx="1088136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9456" y="2020824"/>
            <a:ext cx="91440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5E5E5E"/>
                </a:solidFill>
                <a:latin typeface="Arial"/>
              </a:rPr>
              <a:t>Start 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" y="2139696"/>
            <a:ext cx="96012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Q1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4732" y="1965960"/>
            <a:ext cx="1088136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39596" y="2020824"/>
            <a:ext cx="91440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5E5E5E"/>
                </a:solidFill>
                <a:latin typeface="Arial"/>
              </a:rPr>
              <a:t>Duration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9596" y="2139696"/>
            <a:ext cx="96012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3 months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4592" y="2450591"/>
            <a:ext cx="1088136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9456" y="2505456"/>
            <a:ext cx="91440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5E5E5E"/>
                </a:solidFill>
                <a:latin typeface="Arial"/>
              </a:rPr>
              <a:t>Budget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" y="2624327"/>
            <a:ext cx="96012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Arial"/>
              </a:rPr>
              <a:t>$50,000-
$75,000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84732" y="2450591"/>
            <a:ext cx="1088136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39596" y="2505456"/>
            <a:ext cx="91440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5E5E5E"/>
                </a:solidFill>
                <a:latin typeface="Arial"/>
              </a:rPr>
              <a:t>FTEs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9596" y="2624327"/>
            <a:ext cx="96012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TBD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2971800"/>
            <a:ext cx="192024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1" i="0">
                <a:solidFill>
                  <a:srgbClr val="000000"/>
                </a:solidFill>
                <a:latin typeface="Arial"/>
              </a:rPr>
              <a:t>Strategic Objective Covered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0312" y="3172968"/>
            <a:ext cx="1956816" cy="201168"/>
          </a:xfrm>
          <a:prstGeom prst="rect">
            <a:avLst/>
          </a:prstGeom>
          <a:solidFill>
            <a:srgbClr val="1DC95F"/>
          </a:solidFill>
          <a:ln>
            <a:solidFill>
              <a:srgbClr val="1DC9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4320" y="3209544"/>
            <a:ext cx="178308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10" b="1" i="0">
                <a:solidFill>
                  <a:srgbClr val="FFFFFF"/>
                </a:solidFill>
                <a:latin typeface="Arial"/>
              </a:rPr>
              <a:t>Modernize security operations…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0312" y="3429000"/>
            <a:ext cx="1956816" cy="201168"/>
          </a:xfrm>
          <a:prstGeom prst="rect">
            <a:avLst/>
          </a:prstGeom>
          <a:solidFill>
            <a:srgbClr val="5F5F5F"/>
          </a:solidFill>
          <a:ln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10312" y="3685032"/>
            <a:ext cx="1956816" cy="201168"/>
          </a:xfrm>
          <a:prstGeom prst="rect">
            <a:avLst/>
          </a:prstGeom>
          <a:solidFill>
            <a:srgbClr val="C1F0F0"/>
          </a:solidFill>
          <a:ln>
            <a:solidFill>
              <a:srgbClr val="C1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10312" y="3941064"/>
            <a:ext cx="1956816" cy="201168"/>
          </a:xfrm>
          <a:prstGeom prst="rect">
            <a:avLst/>
          </a:prstGeom>
          <a:solidFill>
            <a:srgbClr val="D6CBC1"/>
          </a:solidFill>
          <a:ln>
            <a:solidFill>
              <a:srgbClr val="D6CB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01168" y="4251960"/>
            <a:ext cx="196596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1" i="0">
                <a:solidFill>
                  <a:srgbClr val="000000"/>
                </a:solidFill>
                <a:latin typeface="Arial"/>
              </a:rPr>
              <a:t>Scenario-based maturity uplift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507992"/>
            <a:ext cx="256032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x1.2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4507992"/>
            <a:ext cx="256032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x1.5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4507992"/>
            <a:ext cx="256032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x1.8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11480" y="4709160"/>
            <a:ext cx="1737360" cy="0"/>
          </a:xfrm>
          <a:prstGeom prst="line">
            <a:avLst/>
          </a:prstGeom>
          <a:ln>
            <a:solidFill>
              <a:srgbClr val="D0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011680" y="4636008"/>
            <a:ext cx="137160" cy="73152"/>
          </a:xfrm>
          <a:prstGeom prst="line">
            <a:avLst/>
          </a:prstGeom>
          <a:ln>
            <a:solidFill>
              <a:srgbClr val="D0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011680" y="4709160"/>
            <a:ext cx="137160" cy="73152"/>
          </a:xfrm>
          <a:prstGeom prst="line">
            <a:avLst/>
          </a:prstGeom>
          <a:ln>
            <a:solidFill>
              <a:srgbClr val="D0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10312" y="4754880"/>
            <a:ext cx="137160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6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4782312"/>
            <a:ext cx="182880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Arial"/>
              </a:rPr>
              <a:t>Y1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4782312"/>
            <a:ext cx="182880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Arial"/>
              </a:rPr>
              <a:t>Y2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74519" y="4782312"/>
            <a:ext cx="182880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Arial"/>
              </a:rPr>
              <a:t>Y3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1168" y="5102352"/>
            <a:ext cx="118872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1" i="0">
                <a:solidFill>
                  <a:srgbClr val="000000"/>
                </a:solidFill>
                <a:latin typeface="Arial"/>
              </a:rPr>
              <a:t>Domains impacted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0312" y="5321808"/>
            <a:ext cx="1956816" cy="228600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10312" y="5321808"/>
            <a:ext cx="164592" cy="228600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37744" y="5367528"/>
            <a:ext cx="91440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5367528"/>
            <a:ext cx="1645920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Arial"/>
              </a:rPr>
              <a:t>Weak Authentication and Acc…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0312" y="5614416"/>
            <a:ext cx="1956816" cy="228600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210312" y="5614416"/>
            <a:ext cx="164592" cy="228600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37744" y="5660136"/>
            <a:ext cx="91440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" y="5660136"/>
            <a:ext cx="1645920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Arial"/>
              </a:rPr>
              <a:t>Data Encryption Gaps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51760" y="347472"/>
            <a:ext cx="164592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Initiative Overview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97480" y="530352"/>
            <a:ext cx="182880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600" b="0" i="1">
                <a:solidFill>
                  <a:srgbClr val="5E5E5E"/>
                </a:solidFill>
                <a:latin typeface="Arial"/>
              </a:rPr>
              <a:t>Initiative Overview Description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33472" y="694944"/>
            <a:ext cx="3127248" cy="85953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697480" y="731520"/>
            <a:ext cx="2926080" cy="7680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5E5E5E"/>
                </a:solidFill>
                <a:latin typeface="Arial"/>
              </a:rPr>
              <a:t>This initiative addresses the risk of public exposure due to misconfigured security groups.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51760" y="1664208"/>
            <a:ext cx="164592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Initiative Owner(s)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43200" y="1901952"/>
            <a:ext cx="118872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600" b="0" i="1">
                <a:solidFill>
                  <a:srgbClr val="5E5E5E"/>
                </a:solidFill>
                <a:latin typeface="Arial"/>
              </a:rPr>
              <a:t>Initiative owner name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0" y="2029968"/>
            <a:ext cx="237744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D01820"/>
                </a:solidFill>
                <a:latin typeface="Arial"/>
              </a:rPr>
              <a:t>DevOps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0" y="2212848"/>
            <a:ext cx="146304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Arial"/>
              </a:rPr>
              <a:t>Supporting Functions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3200" y="2359152"/>
            <a:ext cx="292608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5E5E5E"/>
                </a:solidFill>
                <a:latin typeface="Arial"/>
              </a:rPr>
              <a:t>DevOps, IT, Risk, Legal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51760" y="2761488"/>
            <a:ext cx="164592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Initiative Projects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697480" y="2980944"/>
            <a:ext cx="256032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D01820"/>
                </a:solidFill>
                <a:latin typeface="Arial"/>
              </a:rPr>
              <a:t>1.Cloud Security Configuration Review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43200" y="3127248"/>
            <a:ext cx="28346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30" b="0" i="0">
                <a:solidFill>
                  <a:srgbClr val="5E5E5E"/>
                </a:solidFill>
                <a:latin typeface="Arial"/>
              </a:rPr>
              <a:t>This initiative addresses the risk of public exposure due to misconfigured security groups.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44768" y="347472"/>
            <a:ext cx="164592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Initiative Timeline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53328" y="694944"/>
            <a:ext cx="5623560" cy="18105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680960" y="658368"/>
            <a:ext cx="64008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Year 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25712" y="658368"/>
            <a:ext cx="64008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Year 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70464" y="658368"/>
            <a:ext cx="64008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Year 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260336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260336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616952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616952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973568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973568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330183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330183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695944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695944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052560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052560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409176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409176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Q3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765792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765792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Q4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131552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0131552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488168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10488168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844784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10844784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201400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1201400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Q4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053328" y="1078992"/>
            <a:ext cx="5623560" cy="365760"/>
          </a:xfrm>
          <a:prstGeom prst="rect">
            <a:avLst/>
          </a:prstGeom>
          <a:solidFill>
            <a:srgbClr val="F2F2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6153912" y="1152144"/>
            <a:ext cx="10972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40" b="1" i="1">
                <a:solidFill>
                  <a:srgbClr val="000000"/>
                </a:solidFill>
                <a:latin typeface="Arial"/>
              </a:rPr>
              <a:t>Enhance Privileged Acces…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260336" y="1207007"/>
            <a:ext cx="329184" cy="73152"/>
          </a:xfrm>
          <a:prstGeom prst="rect">
            <a:avLst/>
          </a:prstGeom>
          <a:solidFill>
            <a:srgbClr val="6CE5A8"/>
          </a:solidFill>
          <a:ln>
            <a:solidFill>
              <a:srgbClr val="6CE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6053328" y="1508760"/>
            <a:ext cx="5623560" cy="365760"/>
          </a:xfrm>
          <a:prstGeom prst="rect">
            <a:avLst/>
          </a:prstGeom>
          <a:solidFill>
            <a:srgbClr val="F2F2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6153912" y="1581912"/>
            <a:ext cx="10972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40" b="1" i="1">
                <a:solidFill>
                  <a:srgbClr val="000000"/>
                </a:solidFill>
                <a:latin typeface="Arial"/>
              </a:rPr>
              <a:t>Implement Multi-Factor A…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616952" y="1636776"/>
            <a:ext cx="329184" cy="73152"/>
          </a:xfrm>
          <a:prstGeom prst="rect">
            <a:avLst/>
          </a:prstGeom>
          <a:solidFill>
            <a:srgbClr val="6CE5A8"/>
          </a:solidFill>
          <a:ln>
            <a:solidFill>
              <a:srgbClr val="6CE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6053328" y="1938528"/>
            <a:ext cx="5623560" cy="365760"/>
          </a:xfrm>
          <a:prstGeom prst="rect">
            <a:avLst/>
          </a:prstGeom>
          <a:solidFill>
            <a:srgbClr val="F2F2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153912" y="2011680"/>
            <a:ext cx="10972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40" b="1" i="1">
                <a:solidFill>
                  <a:srgbClr val="000000"/>
                </a:solidFill>
                <a:latin typeface="Arial"/>
              </a:rPr>
              <a:t>Encrypt HR Data at Rest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973568" y="2066544"/>
            <a:ext cx="329184" cy="73152"/>
          </a:xfrm>
          <a:prstGeom prst="rect">
            <a:avLst/>
          </a:prstGeom>
          <a:solidFill>
            <a:srgbClr val="6CE5A8"/>
          </a:solidFill>
          <a:ln>
            <a:solidFill>
              <a:srgbClr val="6CE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8732520" y="2761488"/>
            <a:ext cx="100584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Arial"/>
              </a:rPr>
              <a:t>AI use case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741664" y="2962656"/>
            <a:ext cx="265176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30" b="0" i="0">
                <a:solidFill>
                  <a:srgbClr val="5E5E5E"/>
                </a:solidFill>
                <a:latin typeface="Arial"/>
              </a:rPr>
              <a:t>Use AI to synthesize evidence, map risks, and prepare board-ready updates for this initiative.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732520" y="3886200"/>
            <a:ext cx="73152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Arial"/>
              </a:rPr>
              <a:t>Priority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732520" y="4096512"/>
            <a:ext cx="621792" cy="201168"/>
          </a:xfrm>
          <a:prstGeom prst="round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8732520" y="4128219"/>
            <a:ext cx="62179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High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9445752" y="4096512"/>
            <a:ext cx="621792" cy="201168"/>
          </a:xfrm>
          <a:prstGeom prst="roundRect">
            <a:avLst/>
          </a:prstGeom>
          <a:solidFill>
            <a:srgbClr val="1A202C"/>
          </a:solidFill>
          <a:ln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9445752" y="4122024"/>
            <a:ext cx="62179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Medium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0158984" y="4096512"/>
            <a:ext cx="621792" cy="201168"/>
          </a:xfrm>
          <a:prstGeom prst="round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10158984" y="4122024"/>
            <a:ext cx="62179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Low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732520" y="4462272"/>
            <a:ext cx="91440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Arial"/>
              </a:rPr>
              <a:t>Dependencies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732520" y="4645152"/>
            <a:ext cx="2743200" cy="56692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720">
                <a:solidFill>
                  <a:srgbClr val="5E5E5E"/>
                </a:solidFill>
                <a:latin typeface="Arial"/>
              </a:rPr>
              <a:t>• No dependency provided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732520" y="5440680"/>
            <a:ext cx="128016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Arial"/>
              </a:rPr>
              <a:t>Challenges addressed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732520" y="5678424"/>
            <a:ext cx="2697480" cy="210312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8732520" y="5678424"/>
            <a:ext cx="164592" cy="210312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8778240" y="5715000"/>
            <a:ext cx="73152" cy="822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8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42832" y="5715000"/>
            <a:ext cx="2331720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Arial"/>
              </a:rPr>
              <a:t>Weak Authentication and Access Controls: Multip…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732520" y="5961888"/>
            <a:ext cx="2697480" cy="210312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8732520" y="5961888"/>
            <a:ext cx="164592" cy="210312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8778240" y="5998464"/>
            <a:ext cx="73152" cy="822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8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42832" y="5998464"/>
            <a:ext cx="2331720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Arial"/>
              </a:rPr>
              <a:t>Data Encryption Gaps: There are recurring menti…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921240" y="6419088"/>
            <a:ext cx="1828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550" b="0" i="0">
                <a:solidFill>
                  <a:srgbClr val="5E5E5E"/>
                </a:solidFill>
                <a:latin typeface="Arial"/>
              </a:rPr>
              <a:t>Copyright © 2026 Accenture. All rights reserved.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" y="182880"/>
            <a:ext cx="12024360" cy="63093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274320"/>
            <a:ext cx="2240280" cy="74980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347472"/>
            <a:ext cx="155448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Arial"/>
              </a:rPr>
              <a:t>Security Domain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48640"/>
            <a:ext cx="18288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Third-Party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1060704"/>
            <a:ext cx="2240280" cy="786384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64592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Arial"/>
              </a:rPr>
              <a:t>Initiative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335024"/>
            <a:ext cx="193852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40" b="1" i="0">
                <a:solidFill>
                  <a:srgbClr val="FFFFFF"/>
                </a:solidFill>
                <a:latin typeface="Arial"/>
              </a:rPr>
              <a:t>Comprehensive Logging and Monitoring Implementation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" y="1965960"/>
            <a:ext cx="1088136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9456" y="2020824"/>
            <a:ext cx="91440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5E5E5E"/>
                </a:solidFill>
                <a:latin typeface="Arial"/>
              </a:rPr>
              <a:t>Start 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" y="2139696"/>
            <a:ext cx="96012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Q2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4732" y="1965960"/>
            <a:ext cx="1088136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39596" y="2020824"/>
            <a:ext cx="91440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5E5E5E"/>
                </a:solidFill>
                <a:latin typeface="Arial"/>
              </a:rPr>
              <a:t>Duration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9596" y="2139696"/>
            <a:ext cx="96012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5 months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4592" y="2450591"/>
            <a:ext cx="1088136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9456" y="2505456"/>
            <a:ext cx="91440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5E5E5E"/>
                </a:solidFill>
                <a:latin typeface="Arial"/>
              </a:rPr>
              <a:t>Budget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" y="2624327"/>
            <a:ext cx="96012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700" b="1" i="0">
                <a:solidFill>
                  <a:srgbClr val="000000"/>
                </a:solidFill>
                <a:latin typeface="Arial"/>
              </a:rPr>
              <a:t>$100,000-
$150,000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84732" y="2450591"/>
            <a:ext cx="1088136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39596" y="2505456"/>
            <a:ext cx="91440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5E5E5E"/>
                </a:solidFill>
                <a:latin typeface="Arial"/>
              </a:rPr>
              <a:t>FTEs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9596" y="2624327"/>
            <a:ext cx="96012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TBD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2971800"/>
            <a:ext cx="192024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1" i="0">
                <a:solidFill>
                  <a:srgbClr val="000000"/>
                </a:solidFill>
                <a:latin typeface="Arial"/>
              </a:rPr>
              <a:t>Strategic Objective Covered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0312" y="3172968"/>
            <a:ext cx="1956816" cy="201168"/>
          </a:xfrm>
          <a:prstGeom prst="rect">
            <a:avLst/>
          </a:prstGeom>
          <a:solidFill>
            <a:srgbClr val="1DC95F"/>
          </a:solidFill>
          <a:ln>
            <a:solidFill>
              <a:srgbClr val="1DC9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4320" y="3209544"/>
            <a:ext cx="178308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10" b="1" i="0">
                <a:solidFill>
                  <a:srgbClr val="FFFFFF"/>
                </a:solidFill>
                <a:latin typeface="Arial"/>
              </a:rPr>
              <a:t>Elevate resilience and risk m…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0312" y="3429000"/>
            <a:ext cx="1956816" cy="201168"/>
          </a:xfrm>
          <a:prstGeom prst="rect">
            <a:avLst/>
          </a:prstGeom>
          <a:solidFill>
            <a:srgbClr val="5F5F5F"/>
          </a:solidFill>
          <a:ln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10312" y="3685032"/>
            <a:ext cx="1956816" cy="201168"/>
          </a:xfrm>
          <a:prstGeom prst="rect">
            <a:avLst/>
          </a:prstGeom>
          <a:solidFill>
            <a:srgbClr val="C1F0F0"/>
          </a:solidFill>
          <a:ln>
            <a:solidFill>
              <a:srgbClr val="C1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10312" y="3941064"/>
            <a:ext cx="1956816" cy="201168"/>
          </a:xfrm>
          <a:prstGeom prst="rect">
            <a:avLst/>
          </a:prstGeom>
          <a:solidFill>
            <a:srgbClr val="D6CBC1"/>
          </a:solidFill>
          <a:ln>
            <a:solidFill>
              <a:srgbClr val="D6CB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01168" y="4251960"/>
            <a:ext cx="196596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1" i="0">
                <a:solidFill>
                  <a:srgbClr val="000000"/>
                </a:solidFill>
                <a:latin typeface="Arial"/>
              </a:rPr>
              <a:t>Scenario-based maturity uplift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507992"/>
            <a:ext cx="256032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x1.2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4507992"/>
            <a:ext cx="256032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x1.5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4507992"/>
            <a:ext cx="256032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x1.8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11480" y="4709160"/>
            <a:ext cx="1737360" cy="0"/>
          </a:xfrm>
          <a:prstGeom prst="line">
            <a:avLst/>
          </a:prstGeom>
          <a:ln>
            <a:solidFill>
              <a:srgbClr val="D0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011680" y="4636008"/>
            <a:ext cx="137160" cy="73152"/>
          </a:xfrm>
          <a:prstGeom prst="line">
            <a:avLst/>
          </a:prstGeom>
          <a:ln>
            <a:solidFill>
              <a:srgbClr val="D0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011680" y="4709160"/>
            <a:ext cx="137160" cy="73152"/>
          </a:xfrm>
          <a:prstGeom prst="line">
            <a:avLst/>
          </a:prstGeom>
          <a:ln>
            <a:solidFill>
              <a:srgbClr val="D0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10312" y="4754880"/>
            <a:ext cx="137160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6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4782312"/>
            <a:ext cx="182880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Arial"/>
              </a:rPr>
              <a:t>Y1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4782312"/>
            <a:ext cx="182880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Arial"/>
              </a:rPr>
              <a:t>Y2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74519" y="4782312"/>
            <a:ext cx="182880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Arial"/>
              </a:rPr>
              <a:t>Y3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1168" y="5102352"/>
            <a:ext cx="118872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1" i="0">
                <a:solidFill>
                  <a:srgbClr val="000000"/>
                </a:solidFill>
                <a:latin typeface="Arial"/>
              </a:rPr>
              <a:t>Domains impacted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0312" y="5321808"/>
            <a:ext cx="1956816" cy="228600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10312" y="5321808"/>
            <a:ext cx="164592" cy="228600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37744" y="5367528"/>
            <a:ext cx="91440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5367528"/>
            <a:ext cx="1645920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Arial"/>
              </a:rPr>
              <a:t>Weak Authentication and Acc…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0312" y="5614416"/>
            <a:ext cx="1956816" cy="228600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210312" y="5614416"/>
            <a:ext cx="164592" cy="228600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37744" y="5660136"/>
            <a:ext cx="91440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" y="5660136"/>
            <a:ext cx="1645920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Arial"/>
              </a:rPr>
              <a:t>Data Encryption Gaps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51760" y="347472"/>
            <a:ext cx="164592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Initiative Overview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97480" y="530352"/>
            <a:ext cx="182880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600" b="0" i="1">
                <a:solidFill>
                  <a:srgbClr val="5E5E5E"/>
                </a:solidFill>
                <a:latin typeface="Arial"/>
              </a:rPr>
              <a:t>Initiative Overview Description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33472" y="694944"/>
            <a:ext cx="3127248" cy="85953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697480" y="731520"/>
            <a:ext cx="2926080" cy="7680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5E5E5E"/>
                </a:solidFill>
                <a:latin typeface="Arial"/>
              </a:rPr>
              <a:t>This initiative addresses the risk of incomplete logging, which can lead to undetected breaches.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51760" y="1664208"/>
            <a:ext cx="164592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Initiative Owner(s)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43200" y="1901952"/>
            <a:ext cx="118872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600" b="0" i="1">
                <a:solidFill>
                  <a:srgbClr val="5E5E5E"/>
                </a:solidFill>
                <a:latin typeface="Arial"/>
              </a:rPr>
              <a:t>Initiative owner name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0" y="2029968"/>
            <a:ext cx="237744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D01820"/>
                </a:solidFill>
                <a:latin typeface="Arial"/>
              </a:rPr>
              <a:t>IT Security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0" y="2212848"/>
            <a:ext cx="146304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Arial"/>
              </a:rPr>
              <a:t>Supporting Functions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3200" y="2359152"/>
            <a:ext cx="292608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5E5E5E"/>
                </a:solidFill>
                <a:latin typeface="Arial"/>
              </a:rPr>
              <a:t>IT Security, IT, Risk, Legal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51760" y="2761488"/>
            <a:ext cx="164592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Initiative Projects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697480" y="2980944"/>
            <a:ext cx="256032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D01820"/>
                </a:solidFill>
                <a:latin typeface="Arial"/>
              </a:rPr>
              <a:t>1.Comprehensive Logging and Monitoring Impl…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43200" y="3127248"/>
            <a:ext cx="28346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30" b="0" i="0">
                <a:solidFill>
                  <a:srgbClr val="5E5E5E"/>
                </a:solidFill>
                <a:latin typeface="Arial"/>
              </a:rPr>
              <a:t>This initiative addresses the risk of incomplete logging, which can lead to undetected breaches.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44768" y="347472"/>
            <a:ext cx="164592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Initiative Timeline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53328" y="694944"/>
            <a:ext cx="5623560" cy="18105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680960" y="658368"/>
            <a:ext cx="64008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Year 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25712" y="658368"/>
            <a:ext cx="64008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Year 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70464" y="658368"/>
            <a:ext cx="64008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Year 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260336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260336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616952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616952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973568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973568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330183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330183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695944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695944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052560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052560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409176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409176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Q3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765792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765792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Q4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131552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0131552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488168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10488168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844784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10844784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201400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1201400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Q4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053328" y="1078992"/>
            <a:ext cx="5623560" cy="365760"/>
          </a:xfrm>
          <a:prstGeom prst="rect">
            <a:avLst/>
          </a:prstGeom>
          <a:solidFill>
            <a:srgbClr val="F2F2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6153912" y="1152144"/>
            <a:ext cx="10972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40" b="1" i="1">
                <a:solidFill>
                  <a:srgbClr val="000000"/>
                </a:solidFill>
                <a:latin typeface="Arial"/>
              </a:rPr>
              <a:t>Enhance Privileged Acces…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260336" y="1207007"/>
            <a:ext cx="685800" cy="73152"/>
          </a:xfrm>
          <a:prstGeom prst="rect">
            <a:avLst/>
          </a:prstGeom>
          <a:solidFill>
            <a:srgbClr val="6CE5A8"/>
          </a:solidFill>
          <a:ln>
            <a:solidFill>
              <a:srgbClr val="6CE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6053328" y="1508760"/>
            <a:ext cx="5623560" cy="365760"/>
          </a:xfrm>
          <a:prstGeom prst="rect">
            <a:avLst/>
          </a:prstGeom>
          <a:solidFill>
            <a:srgbClr val="F2F2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6153912" y="1581912"/>
            <a:ext cx="10972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40" b="1" i="1">
                <a:solidFill>
                  <a:srgbClr val="000000"/>
                </a:solidFill>
                <a:latin typeface="Arial"/>
              </a:rPr>
              <a:t>Implement Multi-Factor A…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616952" y="1636776"/>
            <a:ext cx="329184" cy="73152"/>
          </a:xfrm>
          <a:prstGeom prst="rect">
            <a:avLst/>
          </a:prstGeom>
          <a:solidFill>
            <a:srgbClr val="6CE5A8"/>
          </a:solidFill>
          <a:ln>
            <a:solidFill>
              <a:srgbClr val="6CE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6053328" y="1938528"/>
            <a:ext cx="5623560" cy="365760"/>
          </a:xfrm>
          <a:prstGeom prst="rect">
            <a:avLst/>
          </a:prstGeom>
          <a:solidFill>
            <a:srgbClr val="F2F2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153912" y="2011680"/>
            <a:ext cx="10972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40" b="1" i="1">
                <a:solidFill>
                  <a:srgbClr val="000000"/>
                </a:solidFill>
                <a:latin typeface="Arial"/>
              </a:rPr>
              <a:t>Encrypt HR Data at Rest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973568" y="2066544"/>
            <a:ext cx="329184" cy="73152"/>
          </a:xfrm>
          <a:prstGeom prst="rect">
            <a:avLst/>
          </a:prstGeom>
          <a:solidFill>
            <a:srgbClr val="6CE5A8"/>
          </a:solidFill>
          <a:ln>
            <a:solidFill>
              <a:srgbClr val="6CE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8732520" y="2761488"/>
            <a:ext cx="100584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Arial"/>
              </a:rPr>
              <a:t>AI use case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741664" y="2962656"/>
            <a:ext cx="265176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30" b="0" i="0">
                <a:solidFill>
                  <a:srgbClr val="5E5E5E"/>
                </a:solidFill>
                <a:latin typeface="Arial"/>
              </a:rPr>
              <a:t>Use AI to synthesize evidence, map risks, and prepare board-ready updates for this initiative.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732520" y="3886200"/>
            <a:ext cx="73152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Arial"/>
              </a:rPr>
              <a:t>Priority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732520" y="4096512"/>
            <a:ext cx="621792" cy="201168"/>
          </a:xfrm>
          <a:prstGeom prst="round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8732520" y="4122024"/>
            <a:ext cx="62179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High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9445752" y="4096512"/>
            <a:ext cx="621792" cy="201168"/>
          </a:xfrm>
          <a:prstGeom prst="roundRect">
            <a:avLst/>
          </a:prstGeom>
          <a:solidFill>
            <a:srgbClr val="1A202C"/>
          </a:solidFill>
          <a:ln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9445752" y="4122024"/>
            <a:ext cx="62179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Medium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0158984" y="4096512"/>
            <a:ext cx="621792" cy="201168"/>
          </a:xfrm>
          <a:prstGeom prst="round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10158984" y="4128219"/>
            <a:ext cx="62179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Low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732520" y="4462272"/>
            <a:ext cx="91440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Arial"/>
              </a:rPr>
              <a:t>Dependencies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732520" y="4645152"/>
            <a:ext cx="2743200" cy="56692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720">
                <a:solidFill>
                  <a:srgbClr val="5E5E5E"/>
                </a:solidFill>
                <a:latin typeface="Arial"/>
              </a:rPr>
              <a:t>• No dependency provided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732520" y="5440680"/>
            <a:ext cx="128016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Arial"/>
              </a:rPr>
              <a:t>Challenges addressed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732520" y="5678424"/>
            <a:ext cx="2697480" cy="210312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8732520" y="5678424"/>
            <a:ext cx="164592" cy="210312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8778240" y="5715000"/>
            <a:ext cx="73152" cy="822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8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42832" y="5715000"/>
            <a:ext cx="2331720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Arial"/>
              </a:rPr>
              <a:t>Weak Authentication and Access Controls: Multip…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732520" y="5961888"/>
            <a:ext cx="2697480" cy="210312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8732520" y="5961888"/>
            <a:ext cx="164592" cy="210312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8778240" y="5998464"/>
            <a:ext cx="73152" cy="822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8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42832" y="5998464"/>
            <a:ext cx="2331720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Arial"/>
              </a:rPr>
              <a:t>Data Encryption Gaps: There are recurring menti…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921240" y="6419088"/>
            <a:ext cx="1828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550" b="0" i="0">
                <a:solidFill>
                  <a:srgbClr val="5E5E5E"/>
                </a:solidFill>
                <a:latin typeface="Arial"/>
              </a:rPr>
              <a:t>Copyright © 2026 Accenture. All rights reserved.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" y="182880"/>
            <a:ext cx="12024360" cy="630936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274320"/>
            <a:ext cx="2240280" cy="74980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347472"/>
            <a:ext cx="155448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Arial"/>
              </a:rPr>
              <a:t>Security Domain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48640"/>
            <a:ext cx="182880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Third-Party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1060704"/>
            <a:ext cx="2240280" cy="786384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64592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Arial"/>
              </a:rPr>
              <a:t>Initiative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335024"/>
            <a:ext cx="1938528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Arial"/>
              </a:rPr>
              <a:t>Disaster Recovery Testing Program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" y="1965960"/>
            <a:ext cx="1088136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9456" y="2020824"/>
            <a:ext cx="91440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5E5E5E"/>
                </a:solidFill>
                <a:latin typeface="Arial"/>
              </a:rPr>
              <a:t>Start 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" y="2139696"/>
            <a:ext cx="96012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Q3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4732" y="1965960"/>
            <a:ext cx="1088136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39596" y="2020824"/>
            <a:ext cx="91440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5E5E5E"/>
                </a:solidFill>
                <a:latin typeface="Arial"/>
              </a:rPr>
              <a:t>Duration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9596" y="2139696"/>
            <a:ext cx="96012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2 months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4592" y="2450591"/>
            <a:ext cx="1088136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9456" y="2505456"/>
            <a:ext cx="91440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5E5E5E"/>
                </a:solidFill>
                <a:latin typeface="Arial"/>
              </a:rPr>
              <a:t>Budget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" y="2624327"/>
            <a:ext cx="96012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Arial"/>
              </a:rPr>
              <a:t>$30,000-
$50,000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84732" y="2450591"/>
            <a:ext cx="1088136" cy="45720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39596" y="2505456"/>
            <a:ext cx="91440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5E5E5E"/>
                </a:solidFill>
                <a:latin typeface="Arial"/>
              </a:rPr>
              <a:t>FTEs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9596" y="2624327"/>
            <a:ext cx="96012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TBD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" y="2971800"/>
            <a:ext cx="192024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1" i="0">
                <a:solidFill>
                  <a:srgbClr val="000000"/>
                </a:solidFill>
                <a:latin typeface="Arial"/>
              </a:rPr>
              <a:t>Strategic Objective Covered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0312" y="3172968"/>
            <a:ext cx="1956816" cy="201168"/>
          </a:xfrm>
          <a:prstGeom prst="rect">
            <a:avLst/>
          </a:prstGeom>
          <a:solidFill>
            <a:srgbClr val="1DC95F"/>
          </a:solidFill>
          <a:ln>
            <a:solidFill>
              <a:srgbClr val="1DC9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4320" y="3209544"/>
            <a:ext cx="178308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10" b="1" i="0">
                <a:solidFill>
                  <a:srgbClr val="FFFFFF"/>
                </a:solidFill>
                <a:latin typeface="Arial"/>
              </a:rPr>
              <a:t>Elevate resilience and risk m…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0312" y="3429000"/>
            <a:ext cx="1956816" cy="201168"/>
          </a:xfrm>
          <a:prstGeom prst="rect">
            <a:avLst/>
          </a:prstGeom>
          <a:solidFill>
            <a:srgbClr val="5F5F5F"/>
          </a:solidFill>
          <a:ln>
            <a:solidFill>
              <a:srgbClr val="5F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10312" y="3685032"/>
            <a:ext cx="1956816" cy="201168"/>
          </a:xfrm>
          <a:prstGeom prst="rect">
            <a:avLst/>
          </a:prstGeom>
          <a:solidFill>
            <a:srgbClr val="C1F0F0"/>
          </a:solidFill>
          <a:ln>
            <a:solidFill>
              <a:srgbClr val="C1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10312" y="3941064"/>
            <a:ext cx="1956816" cy="201168"/>
          </a:xfrm>
          <a:prstGeom prst="rect">
            <a:avLst/>
          </a:prstGeom>
          <a:solidFill>
            <a:srgbClr val="D6CBC1"/>
          </a:solidFill>
          <a:ln>
            <a:solidFill>
              <a:srgbClr val="D6CB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01168" y="4251960"/>
            <a:ext cx="196596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1" i="0">
                <a:solidFill>
                  <a:srgbClr val="000000"/>
                </a:solidFill>
                <a:latin typeface="Arial"/>
              </a:rPr>
              <a:t>Scenario-based maturity uplift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507992"/>
            <a:ext cx="256032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x1.2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4507992"/>
            <a:ext cx="256032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x1.5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4507992"/>
            <a:ext cx="256032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x1.8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11480" y="4709160"/>
            <a:ext cx="1737360" cy="0"/>
          </a:xfrm>
          <a:prstGeom prst="line">
            <a:avLst/>
          </a:prstGeom>
          <a:ln>
            <a:solidFill>
              <a:srgbClr val="D0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011680" y="4636008"/>
            <a:ext cx="137160" cy="73152"/>
          </a:xfrm>
          <a:prstGeom prst="line">
            <a:avLst/>
          </a:prstGeom>
          <a:ln>
            <a:solidFill>
              <a:srgbClr val="D0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011680" y="4709160"/>
            <a:ext cx="137160" cy="73152"/>
          </a:xfrm>
          <a:prstGeom prst="line">
            <a:avLst/>
          </a:prstGeom>
          <a:ln>
            <a:solidFill>
              <a:srgbClr val="D0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10312" y="4754880"/>
            <a:ext cx="137160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6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4782312"/>
            <a:ext cx="182880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Arial"/>
              </a:rPr>
              <a:t>Y1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4782312"/>
            <a:ext cx="182880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Arial"/>
              </a:rPr>
              <a:t>Y2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74519" y="4782312"/>
            <a:ext cx="182880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Arial"/>
              </a:rPr>
              <a:t>Y3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1168" y="5102352"/>
            <a:ext cx="1188720" cy="137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1" i="0">
                <a:solidFill>
                  <a:srgbClr val="000000"/>
                </a:solidFill>
                <a:latin typeface="Arial"/>
              </a:rPr>
              <a:t>Domains impacted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0312" y="5321808"/>
            <a:ext cx="1956816" cy="228600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10312" y="5321808"/>
            <a:ext cx="164592" cy="228600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37744" y="5367528"/>
            <a:ext cx="91440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5367528"/>
            <a:ext cx="1645920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Arial"/>
              </a:rPr>
              <a:t>Weak Authentication and Acc…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0312" y="5614416"/>
            <a:ext cx="1956816" cy="228600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210312" y="5614416"/>
            <a:ext cx="164592" cy="228600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37744" y="5660136"/>
            <a:ext cx="91440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" y="5660136"/>
            <a:ext cx="1645920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  <a:latin typeface="Arial"/>
              </a:rPr>
              <a:t>Data Encryption Gaps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51760" y="347472"/>
            <a:ext cx="164592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Initiative Overview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97480" y="530352"/>
            <a:ext cx="182880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600" b="0" i="1">
                <a:solidFill>
                  <a:srgbClr val="5E5E5E"/>
                </a:solidFill>
                <a:latin typeface="Arial"/>
              </a:rPr>
              <a:t>Initiative Overview Description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33472" y="694944"/>
            <a:ext cx="3127248" cy="85953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697480" y="731520"/>
            <a:ext cx="2926080" cy="7680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5E5E5E"/>
                </a:solidFill>
                <a:latin typeface="Arial"/>
              </a:rPr>
              <a:t>This initiative enhances resilience by ensuring that disaster recovery plans are tested and effective.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51760" y="1664208"/>
            <a:ext cx="164592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Initiative Owner(s)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43200" y="1901952"/>
            <a:ext cx="118872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600" b="0" i="1">
                <a:solidFill>
                  <a:srgbClr val="5E5E5E"/>
                </a:solidFill>
                <a:latin typeface="Arial"/>
              </a:rPr>
              <a:t>Initiative owner name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0" y="2029968"/>
            <a:ext cx="237744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D01820"/>
                </a:solidFill>
                <a:latin typeface="Arial"/>
              </a:rPr>
              <a:t>CISO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0" y="2212848"/>
            <a:ext cx="146304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Arial"/>
              </a:rPr>
              <a:t>Supporting Functions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3200" y="2359152"/>
            <a:ext cx="292608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5E5E5E"/>
                </a:solidFill>
                <a:latin typeface="Arial"/>
              </a:rPr>
              <a:t>CISO, IT, Risk, Legal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51760" y="2761488"/>
            <a:ext cx="164592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Initiative Projects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697480" y="2980944"/>
            <a:ext cx="2560320" cy="12801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D01820"/>
                </a:solidFill>
                <a:latin typeface="Arial"/>
              </a:rPr>
              <a:t>1.Disaster Recovery Testing Program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43200" y="3127248"/>
            <a:ext cx="28346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30" b="0" i="0">
                <a:solidFill>
                  <a:srgbClr val="5E5E5E"/>
                </a:solidFill>
                <a:latin typeface="Arial"/>
              </a:rPr>
              <a:t>This initiative enhances resilience by ensuring that disaster recovery plans are tested and effective.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144768" y="347472"/>
            <a:ext cx="164592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000000"/>
                </a:solidFill>
                <a:latin typeface="Arial"/>
              </a:rPr>
              <a:t>Initiative Timeline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53328" y="694944"/>
            <a:ext cx="5623560" cy="18105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680960" y="658368"/>
            <a:ext cx="64008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Year 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25712" y="658368"/>
            <a:ext cx="64008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Year 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70464" y="658368"/>
            <a:ext cx="640080" cy="109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Arial"/>
              </a:rPr>
              <a:t>Year 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260336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260336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616952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616952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973568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973568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330183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330183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695944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695944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052560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052560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409176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9409176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Q3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765792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765792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Q4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131552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0131552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488168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10488168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844784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10844784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201400" y="822960"/>
            <a:ext cx="347472" cy="201168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1201400" y="864108"/>
            <a:ext cx="34747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30" b="1" i="0">
                <a:solidFill>
                  <a:srgbClr val="FFFFFF"/>
                </a:solidFill>
                <a:latin typeface="Arial"/>
              </a:rPr>
              <a:t>Q4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053328" y="1078992"/>
            <a:ext cx="5623560" cy="365760"/>
          </a:xfrm>
          <a:prstGeom prst="rect">
            <a:avLst/>
          </a:prstGeom>
          <a:solidFill>
            <a:srgbClr val="F2F2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6153912" y="1152144"/>
            <a:ext cx="10972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40" b="1" i="1">
                <a:solidFill>
                  <a:srgbClr val="000000"/>
                </a:solidFill>
                <a:latin typeface="Arial"/>
              </a:rPr>
              <a:t>Enhance Privileged Acces…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260336" y="1207007"/>
            <a:ext cx="329184" cy="73152"/>
          </a:xfrm>
          <a:prstGeom prst="rect">
            <a:avLst/>
          </a:prstGeom>
          <a:solidFill>
            <a:srgbClr val="6CE5A8"/>
          </a:solidFill>
          <a:ln>
            <a:solidFill>
              <a:srgbClr val="6CE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6053328" y="1508760"/>
            <a:ext cx="5623560" cy="365760"/>
          </a:xfrm>
          <a:prstGeom prst="rect">
            <a:avLst/>
          </a:prstGeom>
          <a:solidFill>
            <a:srgbClr val="F2F2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6153912" y="1581912"/>
            <a:ext cx="10972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40" b="1" i="1">
                <a:solidFill>
                  <a:srgbClr val="000000"/>
                </a:solidFill>
                <a:latin typeface="Arial"/>
              </a:rPr>
              <a:t>Implement Multi-Factor A…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616952" y="1636776"/>
            <a:ext cx="329184" cy="73152"/>
          </a:xfrm>
          <a:prstGeom prst="rect">
            <a:avLst/>
          </a:prstGeom>
          <a:solidFill>
            <a:srgbClr val="6CE5A8"/>
          </a:solidFill>
          <a:ln>
            <a:solidFill>
              <a:srgbClr val="6CE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6053328" y="1938528"/>
            <a:ext cx="5623560" cy="365760"/>
          </a:xfrm>
          <a:prstGeom prst="rect">
            <a:avLst/>
          </a:prstGeom>
          <a:solidFill>
            <a:srgbClr val="F2F2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153912" y="2011680"/>
            <a:ext cx="10972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40" b="1" i="1">
                <a:solidFill>
                  <a:srgbClr val="000000"/>
                </a:solidFill>
                <a:latin typeface="Arial"/>
              </a:rPr>
              <a:t>Encrypt HR Data at Rest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973568" y="2066544"/>
            <a:ext cx="329184" cy="73152"/>
          </a:xfrm>
          <a:prstGeom prst="rect">
            <a:avLst/>
          </a:prstGeom>
          <a:solidFill>
            <a:srgbClr val="6CE5A8"/>
          </a:solidFill>
          <a:ln>
            <a:solidFill>
              <a:srgbClr val="6CE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8732520" y="2761488"/>
            <a:ext cx="100584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Arial"/>
              </a:rPr>
              <a:t>AI use case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741664" y="2962656"/>
            <a:ext cx="2651760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30" b="0" i="0">
                <a:solidFill>
                  <a:srgbClr val="5E5E5E"/>
                </a:solidFill>
                <a:latin typeface="Arial"/>
              </a:rPr>
              <a:t>Use AI to synthesize evidence, map risks, and prepare board-ready updates for this initiative.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732520" y="3886200"/>
            <a:ext cx="73152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Arial"/>
              </a:rPr>
              <a:t>Priority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732520" y="4096512"/>
            <a:ext cx="621792" cy="201168"/>
          </a:xfrm>
          <a:prstGeom prst="round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8732520" y="4122024"/>
            <a:ext cx="62179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High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9445752" y="4096512"/>
            <a:ext cx="621792" cy="201168"/>
          </a:xfrm>
          <a:prstGeom prst="round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9451947" y="4109633"/>
            <a:ext cx="62179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Medium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10158984" y="4096512"/>
            <a:ext cx="621792" cy="201168"/>
          </a:xfrm>
          <a:prstGeom prst="roundRect">
            <a:avLst/>
          </a:prstGeom>
          <a:solidFill>
            <a:srgbClr val="1A202C"/>
          </a:solidFill>
          <a:ln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10171374" y="4109633"/>
            <a:ext cx="621792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Arial"/>
              </a:rPr>
              <a:t>Low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732520" y="4462272"/>
            <a:ext cx="91440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Arial"/>
              </a:rPr>
              <a:t>Dependencies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732520" y="4645152"/>
            <a:ext cx="2743200" cy="56692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l"/>
            <a:r>
              <a:rPr sz="720">
                <a:solidFill>
                  <a:srgbClr val="5E5E5E"/>
                </a:solidFill>
                <a:latin typeface="Arial"/>
              </a:rPr>
              <a:t>• No dependency provided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732520" y="5440680"/>
            <a:ext cx="1280160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Arial"/>
              </a:rPr>
              <a:t>Challenges addressed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732520" y="5678424"/>
            <a:ext cx="2697480" cy="210312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8732520" y="5678424"/>
            <a:ext cx="164592" cy="210312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8778240" y="5715000"/>
            <a:ext cx="73152" cy="822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8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42832" y="5715000"/>
            <a:ext cx="2331720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Arial"/>
              </a:rPr>
              <a:t>Weak Authentication and Access Controls: Multip…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732520" y="5961888"/>
            <a:ext cx="2697480" cy="210312"/>
          </a:xfrm>
          <a:prstGeom prst="rect">
            <a:avLst/>
          </a:prstGeom>
          <a:solidFill>
            <a:srgbClr val="BDBDBD"/>
          </a:solidFill>
          <a:ln>
            <a:solidFill>
              <a:srgbClr val="B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8732520" y="5961888"/>
            <a:ext cx="164592" cy="210312"/>
          </a:xfrm>
          <a:prstGeom prst="rect">
            <a:avLst/>
          </a:prstGeom>
          <a:solidFill>
            <a:srgbClr val="D01820"/>
          </a:solidFill>
          <a:ln>
            <a:solidFill>
              <a:srgbClr val="D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8778240" y="5998464"/>
            <a:ext cx="73152" cy="822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68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42832" y="5998464"/>
            <a:ext cx="2331720" cy="91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Arial"/>
              </a:rPr>
              <a:t>Data Encryption Gaps: There are recurring menti…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921240" y="6419088"/>
            <a:ext cx="1828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550" b="0" i="0">
                <a:solidFill>
                  <a:srgbClr val="5E5E5E"/>
                </a:solidFill>
                <a:latin typeface="Arial"/>
              </a:rPr>
              <a:t>Copyright © 2026 Accenture.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31</cp:revision>
  <dcterms:created xsi:type="dcterms:W3CDTF">2013-01-27T09:14:16Z</dcterms:created>
  <dcterms:modified xsi:type="dcterms:W3CDTF">2026-04-13T18:31:31Z</dcterms:modified>
  <cp:category/>
</cp:coreProperties>
</file>